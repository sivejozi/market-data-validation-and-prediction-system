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4E910EF-0955-EE82-2AA1-2136C90EDF0F}">
          <p14:sldIdLst>
            <p14:sldId id="256"/>
            <p14:sldId id="257"/>
            <p14:sldId id="258"/>
            <p14:sldId id="259"/>
            <p14:sldId id="260"/>
          </p14:sldIdLst>
        </p14:section>
        <p14:section name="What I built" id="{E3B29646-1E52-C4B5-6BE4-1AC7A4767EBD}">
          <p14:sldIdLst>
            <p14:sldId id="261"/>
            <p14:sldId id="262"/>
            <p14:sldId id="263"/>
            <p14:sldId id="264"/>
            <p14:sldId id="265"/>
            <p14:sldId id="266"/>
            <p14:sldId id="267"/>
            <p14:sldId id="268"/>
            <p14:sldId id="269"/>
          </p14:sldIdLst>
        </p14:section>
        <p14:section name="What it found" id="{E2F9B1D9-DB2C-2069-1635-E6DC8F690EB7}">
          <p14:sldIdLst>
            <p14:sldId id="270"/>
            <p14:sldId id="271"/>
            <p14:sldId id="272"/>
            <p14:sldId id="273"/>
          </p14:sldIdLst>
        </p14:section>
        <p14:section name="Getting your first job" id="{ACAC8AB4-C3A2-3BD0-6FBC-56E7141A2BBB}">
          <p14:sldIdLst>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67"/>
    <p:restoredTop sz="56925"/>
  </p:normalViewPr>
  <p:slideViewPr>
    <p:cSldViewPr snapToGrid="0" snapToObjects="1">
      <p:cViewPr varScale="1">
        <p:scale>
          <a:sx n="68" d="100"/>
          <a:sy n="68" d="100"/>
        </p:scale>
        <p:origin x="1864" y="20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Linear regression</c:v>
                </c:pt>
              </c:strCache>
            </c:strRef>
          </c:tx>
          <c:spPr>
            <a:solidFill>
              <a:srgbClr val="6B1F37"/>
            </a:solidFill>
            <a:effectLst/>
          </c:spPr>
          <c:invertIfNegative val="0"/>
          <c:dLbls>
            <c:numFmt formatCode="0.000" sourceLinked="0"/>
            <c:spPr>
              <a:noFill/>
              <a:ln>
                <a:noFill/>
              </a:ln>
              <a:effectLst/>
            </c:spPr>
            <c:txPr>
              <a:bodyPr/>
              <a:lstStyle/>
              <a:p>
                <a:pPr>
                  <a:defRPr sz="950" b="0" i="0" u="none" strike="noStrike">
                    <a:solidFill>
                      <a:srgbClr val="5F677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ZAR/EUR</c:v>
                </c:pt>
                <c:pt idx="1">
                  <c:v>ZAR/USD</c:v>
                </c:pt>
                <c:pt idx="2">
                  <c:v>SOFR</c:v>
                </c:pt>
                <c:pt idx="3">
                  <c:v>JIBAR 3M</c:v>
                </c:pt>
              </c:strCache>
            </c:strRef>
          </c:cat>
          <c:val>
            <c:numRef>
              <c:f>Sheet1!$B$2:$B$5</c:f>
              <c:numCache>
                <c:formatCode>General</c:formatCode>
                <c:ptCount val="4"/>
                <c:pt idx="0">
                  <c:v>0.99099999999999999</c:v>
                </c:pt>
                <c:pt idx="1">
                  <c:v>0.99199999999999999</c:v>
                </c:pt>
                <c:pt idx="2">
                  <c:v>0.98099999999999998</c:v>
                </c:pt>
                <c:pt idx="3">
                  <c:v>0.998</c:v>
                </c:pt>
              </c:numCache>
            </c:numRef>
          </c:val>
          <c:extLst>
            <c:ext xmlns:c16="http://schemas.microsoft.com/office/drawing/2014/chart" uri="{C3380CC4-5D6E-409C-BE32-E72D297353CC}">
              <c16:uniqueId val="{00000000-E846-FB46-9CAF-747270745CBC}"/>
            </c:ext>
          </c:extLst>
        </c:ser>
        <c:ser>
          <c:idx val="1"/>
          <c:order val="1"/>
          <c:tx>
            <c:strRef>
              <c:f>Sheet1!$C$1</c:f>
              <c:strCache>
                <c:ptCount val="1"/>
                <c:pt idx="0">
                  <c:v>Gradient boosting</c:v>
                </c:pt>
              </c:strCache>
            </c:strRef>
          </c:tx>
          <c:spPr>
            <a:solidFill>
              <a:srgbClr val="4F6B78"/>
            </a:solidFill>
            <a:effectLst/>
          </c:spPr>
          <c:invertIfNegative val="0"/>
          <c:dLbls>
            <c:numFmt formatCode="0.000" sourceLinked="0"/>
            <c:spPr>
              <a:noFill/>
              <a:ln>
                <a:noFill/>
              </a:ln>
              <a:effectLst/>
            </c:spPr>
            <c:txPr>
              <a:bodyPr/>
              <a:lstStyle/>
              <a:p>
                <a:pPr>
                  <a:defRPr sz="950" b="0" i="0" u="none" strike="noStrike">
                    <a:solidFill>
                      <a:srgbClr val="5F677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ZAR/EUR</c:v>
                </c:pt>
                <c:pt idx="1">
                  <c:v>ZAR/USD</c:v>
                </c:pt>
                <c:pt idx="2">
                  <c:v>SOFR</c:v>
                </c:pt>
                <c:pt idx="3">
                  <c:v>JIBAR 3M</c:v>
                </c:pt>
              </c:strCache>
            </c:strRef>
          </c:cat>
          <c:val>
            <c:numRef>
              <c:f>Sheet1!$C$2:$C$5</c:f>
              <c:numCache>
                <c:formatCode>General</c:formatCode>
                <c:ptCount val="4"/>
                <c:pt idx="0">
                  <c:v>0.73099999999999998</c:v>
                </c:pt>
                <c:pt idx="1">
                  <c:v>0.96399999999999997</c:v>
                </c:pt>
                <c:pt idx="2">
                  <c:v>-0.27200000000000002</c:v>
                </c:pt>
                <c:pt idx="3">
                  <c:v>0.75</c:v>
                </c:pt>
              </c:numCache>
            </c:numRef>
          </c:val>
          <c:extLst>
            <c:ext xmlns:c16="http://schemas.microsoft.com/office/drawing/2014/chart" uri="{C3380CC4-5D6E-409C-BE32-E72D297353CC}">
              <c16:uniqueId val="{00000001-E846-FB46-9CAF-747270745CBC}"/>
            </c:ext>
          </c:extLst>
        </c:ser>
        <c:ser>
          <c:idx val="2"/>
          <c:order val="2"/>
          <c:tx>
            <c:strRef>
              <c:f>Sheet1!$D$1</c:f>
              <c:strCache>
                <c:ptCount val="1"/>
                <c:pt idx="0">
                  <c:v>Random forest</c:v>
                </c:pt>
              </c:strCache>
            </c:strRef>
          </c:tx>
          <c:spPr>
            <a:solidFill>
              <a:srgbClr val="9C7B43"/>
            </a:solidFill>
            <a:effectLst/>
          </c:spPr>
          <c:invertIfNegative val="0"/>
          <c:dLbls>
            <c:numFmt formatCode="0.000" sourceLinked="0"/>
            <c:spPr>
              <a:noFill/>
              <a:ln>
                <a:noFill/>
              </a:ln>
              <a:effectLst/>
            </c:spPr>
            <c:txPr>
              <a:bodyPr/>
              <a:lstStyle/>
              <a:p>
                <a:pPr>
                  <a:defRPr sz="950" b="0" i="0" u="none" strike="noStrike">
                    <a:solidFill>
                      <a:srgbClr val="5F677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ZAR/EUR</c:v>
                </c:pt>
                <c:pt idx="1">
                  <c:v>ZAR/USD</c:v>
                </c:pt>
                <c:pt idx="2">
                  <c:v>SOFR</c:v>
                </c:pt>
                <c:pt idx="3">
                  <c:v>JIBAR 3M</c:v>
                </c:pt>
              </c:strCache>
            </c:strRef>
          </c:cat>
          <c:val>
            <c:numRef>
              <c:f>Sheet1!$D$2:$D$5</c:f>
              <c:numCache>
                <c:formatCode>General</c:formatCode>
                <c:ptCount val="4"/>
                <c:pt idx="0">
                  <c:v>0.92800000000000005</c:v>
                </c:pt>
                <c:pt idx="1">
                  <c:v>0.97</c:v>
                </c:pt>
                <c:pt idx="2">
                  <c:v>-0.64500000000000002</c:v>
                </c:pt>
                <c:pt idx="3">
                  <c:v>0.89500000000000002</c:v>
                </c:pt>
              </c:numCache>
            </c:numRef>
          </c:val>
          <c:extLst>
            <c:ext xmlns:c16="http://schemas.microsoft.com/office/drawing/2014/chart" uri="{C3380CC4-5D6E-409C-BE32-E72D297353CC}">
              <c16:uniqueId val="{00000002-E846-FB46-9CAF-747270745CB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1C1F24"/>
            </a:solidFill>
            <a:prstDash val="solid"/>
            <a:round/>
          </a:ln>
        </c:spPr>
        <c:txPr>
          <a:bodyPr/>
          <a:lstStyle/>
          <a:p>
            <a:pPr>
              <a:defRPr sz="1200" b="0" i="0" u="none" strike="noStrike">
                <a:solidFill>
                  <a:srgbClr val="1C1F24"/>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8"/>
        </c:scaling>
        <c:delete val="0"/>
        <c:axPos val="l"/>
        <c:majorGridlines>
          <c:spPr>
            <a:ln w="9525" cap="flat">
              <a:solidFill>
                <a:srgbClr val="E2DDD6"/>
              </a:solidFill>
              <a:prstDash val="solid"/>
              <a:round/>
            </a:ln>
          </c:spPr>
        </c:majorGridlines>
        <c:numFmt formatCode="General" sourceLinked="0"/>
        <c:majorTickMark val="out"/>
        <c:minorTickMark val="none"/>
        <c:tickLblPos val="nextTo"/>
        <c:spPr>
          <a:ln w="12700" cap="flat">
            <a:solidFill>
              <a:srgbClr val="E2DDD6"/>
            </a:solidFill>
            <a:prstDash val="solid"/>
            <a:round/>
          </a:ln>
        </c:spPr>
        <c:txPr>
          <a:bodyPr/>
          <a:lstStyle/>
          <a:p>
            <a:pPr>
              <a:defRPr sz="1050" b="0" i="0" u="none" strike="noStrike">
                <a:solidFill>
                  <a:srgbClr val="8B929C"/>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100">
              <a:solidFill>
                <a:srgbClr val="1C1F2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0234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MEng Data Science
Tell them the shape up front: what I built, what it found, then jobs.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part three has authority - do not dwell on it.</a:t>
            </a:r>
          </a:p>
          <a:p>
            <a:r>
              <a:rPr lang="en-US" dirty="0"/>
              <a:t>
The line that matters is the last one: I did not pick this topic, a decade of production incidents picked it.</a:t>
            </a:r>
          </a:p>
          <a:p>
            <a:r>
              <a:rPr lang="en-US" dirty="0"/>
              <a:t>
Mentioning Bloomberg and Murex by name tells them this is not a toy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 </a:t>
            </a:r>
          </a:p>
          <a:p>
            <a:r>
              <a:rPr lang="en-US" dirty="0"/>
              <a:t>the build is the longest, </a:t>
            </a:r>
          </a:p>
          <a:p>
            <a:r>
              <a:rPr lang="en-US" dirty="0"/>
              <a:t>then the findings, </a:t>
            </a:r>
          </a:p>
          <a:p>
            <a:r>
              <a:rPr lang="en-US" dirty="0"/>
              <a:t>then jobs.
Invite interruptions on part one - it is the part they are being examined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customer, not the batch job: someone buys euros, the screen shows a rate that came from a bad feed, they accept, and the deal is done.</a:t>
            </a:r>
          </a:p>
          <a:p>
            <a:r>
              <a:rPr lang="en-US" dirty="0"/>
              <a:t>
That is the difference between this and most data quality problems - the error is already outside the building before anyone notices.</a:t>
            </a:r>
          </a:p>
          <a:p>
            <a:r>
              <a:rPr lang="en-US" dirty="0"/>
              <a:t>
These are not big-data volumes. The difficulty is correctness, not scale.</a:t>
            </a:r>
          </a:p>
          <a:p>
            <a:r>
              <a:rPr lang="en-US" dirty="0"/>
              <a:t>
That distinction matters - most of data engineering is correctness.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service list. Point at three boxes and move on.</a:t>
            </a:r>
          </a:p>
          <a:p>
            <a:r>
              <a:rPr lang="en-US" dirty="0"/>
              <a:t>
Seven services: Java Spring Boot for orchestration and business logic, Python FastAPI for the models, React for the interface, Kafka between them, PostgreSQL underneath.</a:t>
            </a:r>
          </a:p>
          <a:p>
            <a:r>
              <a:rPr lang="en-US" dirty="0"/>
              <a:t>
Say why services rather than one application: different languages, different scaling needs.</a:t>
            </a:r>
          </a:p>
          <a:p>
            <a:r>
              <a:rPr lang="en-US" dirty="0"/>
              <a:t>
Be honest that seven services is arguably too many for this problem - it is in my future work.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for a data engineering module. Slow down.</a:t>
            </a:r>
          </a:p>
          <a:p>
            <a:r>
              <a:rPr lang="en-US" dirty="0"/>
              <a:t>
Walk it left to right. Name what crosses each boundary.</a:t>
            </a:r>
          </a:p>
          <a:p>
            <a:r>
              <a:rPr lang="en-US" dirty="0"/>
              <a:t>
Highlighted box is the one everything else depends on - the next two slides are about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Mixed audience: define a topic in one sentence before arguing for it.</a:t>
            </a:r>
          </a:p>
          <a:p>
            <a:r>
              <a:rPr lang="en-US" dirty="0"/>
              <a:t>
Frame as a question - why not just have the preprocessor call the validation API directly?</a:t>
            </a:r>
          </a:p>
          <a:p>
            <a:r>
              <a:rPr lang="en-US" dirty="0"/>
              <a:t>
Answer: because then it has to know about the second consumer, and the third.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Feature engineering = </a:t>
            </a:r>
            <a:r>
              <a:rPr lang="en-US" sz="1200" b="1" kern="1200" dirty="0">
                <a:solidFill>
                  <a:schemeClr val="tx1"/>
                </a:solidFill>
                <a:effectLst/>
                <a:latin typeface="+mn-lt"/>
                <a:ea typeface="+mn-ea"/>
                <a:cs typeface="+mn-cs"/>
              </a:rPr>
              <a:t>Transforming raw data</a:t>
            </a:r>
            <a:r>
              <a:rPr lang="en-US" sz="1200" kern="1200" dirty="0">
                <a:solidFill>
                  <a:schemeClr val="tx1"/>
                </a:solidFill>
                <a:effectLst/>
                <a:latin typeface="+mn-lt"/>
                <a:ea typeface="+mn-ea"/>
                <a:cs typeface="+mn-cs"/>
              </a:rPr>
              <a:t> into meaningful input variables that improve the predictive power of ML models.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4 Features: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lag1</a:t>
            </a:r>
            <a:r>
              <a:rPr lang="en-US" sz="1200" kern="1200" dirty="0">
                <a:solidFill>
                  <a:schemeClr val="tx1"/>
                </a:solidFill>
                <a:effectLst/>
                <a:latin typeface="+mn-lt"/>
                <a:ea typeface="+mn-ea"/>
                <a:cs typeface="+mn-cs"/>
              </a:rPr>
              <a:t> - previous day’s rate, capturing short-term momentum, strongest autocorrelation, detects sudden rate jump.</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lag7</a:t>
            </a:r>
            <a:r>
              <a:rPr lang="en-US" sz="1200" kern="1200" dirty="0">
                <a:solidFill>
                  <a:schemeClr val="tx1"/>
                </a:solidFill>
                <a:effectLst/>
                <a:latin typeface="+mn-lt"/>
                <a:ea typeface="+mn-ea"/>
                <a:cs typeface="+mn-cs"/>
              </a:rPr>
              <a:t> - rate seven days prior, capturing weekly seasonality and medium-term trend direction.</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rollingMean7</a:t>
            </a:r>
            <a:r>
              <a:rPr lang="en-US" sz="1200" kern="1200" dirty="0">
                <a:solidFill>
                  <a:schemeClr val="tx1"/>
                </a:solidFill>
                <a:effectLst/>
                <a:latin typeface="+mn-lt"/>
                <a:ea typeface="+mn-ea"/>
                <a:cs typeface="+mn-cs"/>
              </a:rPr>
              <a:t> - seven-day rolling average, providing a smoothed representation of the recent trend.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rollingStd7</a:t>
            </a:r>
            <a:r>
              <a:rPr lang="en-US" sz="1200" kern="1200" dirty="0">
                <a:solidFill>
                  <a:schemeClr val="tx1"/>
                </a:solidFill>
                <a:effectLst/>
                <a:latin typeface="+mn-lt"/>
                <a:ea typeface="+mn-ea"/>
                <a:cs typeface="+mn-cs"/>
              </a:rPr>
              <a:t> - seven-day rolling standard deviation, measuring recent volatility, high standard deviation indicates a period</a:t>
            </a:r>
          </a:p>
          <a:p>
            <a:r>
              <a:rPr lang="en-US" sz="1200" kern="1200" dirty="0">
                <a:solidFill>
                  <a:schemeClr val="tx1"/>
                </a:solidFill>
                <a:effectLst/>
                <a:latin typeface="+mn-lt"/>
                <a:ea typeface="+mn-ea"/>
                <a:cs typeface="+mn-cs"/>
              </a:rPr>
              <a:t>of </a:t>
            </a:r>
            <a:r>
              <a:rPr lang="en-US" sz="1200" b="1" kern="1200" dirty="0">
                <a:solidFill>
                  <a:schemeClr val="tx1"/>
                </a:solidFill>
                <a:effectLst/>
                <a:latin typeface="+mn-lt"/>
                <a:ea typeface="+mn-ea"/>
                <a:cs typeface="+mn-cs"/>
              </a:rPr>
              <a:t>market stress </a:t>
            </a:r>
            <a:r>
              <a:rPr lang="en-US" sz="1200" kern="1200" dirty="0">
                <a:solidFill>
                  <a:schemeClr val="tx1"/>
                </a:solidFill>
                <a:effectLst/>
                <a:latin typeface="+mn-lt"/>
                <a:ea typeface="+mn-ea"/>
                <a:cs typeface="+mn-cs"/>
              </a:rPr>
              <a:t>or </a:t>
            </a:r>
            <a:r>
              <a:rPr lang="en-US" sz="1200" b="1" kern="1200" dirty="0">
                <a:solidFill>
                  <a:schemeClr val="tx1"/>
                </a:solidFill>
                <a:effectLst/>
                <a:latin typeface="+mn-lt"/>
                <a:ea typeface="+mn-ea"/>
                <a:cs typeface="+mn-cs"/>
              </a:rPr>
              <a:t>heightened uncertainty</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Without lag features, the model cannot distinguish a rate that has been rising steadily from one that has jumped suddenly.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Open with the problem: nobody gives you labelled anomalies. There’s no column saying “this rate was wrong”.</a:t>
            </a:r>
          </a:p>
          <a:p>
            <a:pPr marL="171450" lvl="0" indent="-171450" rtl="0">
              <a:buFont typeface="Arial" panose="020B0604020202020204" pitchFamily="34" charset="0"/>
              <a:buChar char="•"/>
            </a:pPr>
            <a:r>
              <a:rPr lang="en-US" dirty="0"/>
              <a:t>Walk the five steps quickly: cluster the history → distance from the nearest </a:t>
            </a:r>
            <a:r>
              <a:rPr lang="en-US" dirty="0" err="1"/>
              <a:t>centre</a:t>
            </a:r>
            <a:r>
              <a:rPr lang="en-US" dirty="0"/>
              <a:t> becomes a 0 or 1 label → train a classifier on those labels → score new rates from the saved model.</a:t>
            </a:r>
          </a:p>
          <a:p>
            <a:pPr marL="171450" lvl="0" indent="-171450" rtl="0">
              <a:buFont typeface="Arial" panose="020B0604020202020204" pitchFamily="34" charset="0"/>
              <a:buChar char="•"/>
            </a:pPr>
            <a:r>
              <a:rPr lang="en-US" dirty="0"/>
              <a:t>Why that last step matters: scoring one rate doesn’t get slower as the history grows.</a:t>
            </a:r>
          </a:p>
          <a:p>
            <a:pPr marL="171450" lvl="0" indent="-171450" rtl="0">
              <a:buFont typeface="Arial" panose="020B0604020202020204" pitchFamily="34" charset="0"/>
              <a:buChar char="•"/>
            </a:pPr>
            <a:r>
              <a:rPr lang="en-US" dirty="0"/>
              <a:t>Watch out: “majority vote” in step 4 is the trees inside one model voting — not my three detectors. They’ll mix those up.</a:t>
            </a:r>
          </a:p>
          <a:p>
            <a:pPr marL="171450" lvl="0" indent="-171450" rtl="0">
              <a:buFont typeface="Arial" panose="020B0604020202020204" pitchFamily="34" charset="0"/>
              <a:buChar char="•"/>
            </a:pPr>
            <a:r>
              <a:rPr lang="en-US" dirty="0"/>
              <a:t>The honest part: the classifier just learned the clustering’s own boundary. Not two opinions — one opinion twice.</a:t>
            </a:r>
          </a:p>
          <a:p>
            <a:pPr marL="171450" lvl="0" indent="-171450" rtl="0">
              <a:buFont typeface="Arial" panose="020B0604020202020204" pitchFamily="34" charset="0"/>
              <a:buChar char="•"/>
            </a:pPr>
            <a:r>
              <a:rPr lang="en-US" dirty="0"/>
              <a:t>The numbers for that come in part two.</a:t>
            </a:r>
          </a:p>
          <a:p>
            <a:pPr marL="171450" lvl="0" indent="-171450" rtl="0">
              <a:buFont typeface="Arial" panose="020B0604020202020204" pitchFamily="34" charset="0"/>
              <a:buChar char="•"/>
            </a:pPr>
            <a:r>
              <a:rPr lang="en-US" dirty="0"/>
              <a:t>This was my </a:t>
            </a:r>
            <a:r>
              <a:rPr lang="en-US" dirty="0" err="1"/>
              <a:t>favourite</a:t>
            </a:r>
            <a:r>
              <a:rPr lang="en-US" dirty="0"/>
              <a:t> bit of the design. It’s also what broke the thing built on top of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my first version retrained on every request. Thirty seconds per call.</a:t>
            </a:r>
          </a:p>
          <a:p>
            <a:r>
              <a:rPr lang="en-US" dirty="0"/>
              <a:t>
The fix is obvious in hindsight - train on a schedule, save the artefact, load it to serve.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slide. Do not narrate every box - trace one path: S3, preprocessing, Kafka, training, artefact, inference.</a:t>
            </a:r>
          </a:p>
          <a:p>
            <a:r>
              <a:rPr lang="en-US" dirty="0"/>
              <a:t>
Then point at 'Auto-Retrain' and 'Sub-second' and say: that is the design. </a:t>
            </a:r>
          </a:p>
          <a:p>
            <a:endParaRPr lang="en-US" dirty="0"/>
          </a:p>
          <a:p>
            <a:r>
              <a:rPr lang="en-US" dirty="0"/>
              <a:t>My run log shows every retrain was triggered by hand, and I never measured latency.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GitOps in one sentence: Git is the source of truth for infrastructure, not someone's laptop.</a:t>
            </a:r>
          </a:p>
          <a:p>
            <a:r>
              <a:rPr lang="en-US" dirty="0"/>
              <a:t>
The practical consequence - every deploy is traceable to a commit, and rollback is a revert.</a:t>
            </a:r>
          </a:p>
          <a:p>
            <a:r>
              <a:rPr lang="en-US" dirty="0"/>
              <a:t>
This is what auditors actually want, and it is why it matters in finance.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the build. Just let them read the last row.</a:t>
            </a:r>
          </a:p>
          <a:p>
            <a:r>
              <a:rPr lang="en-US" dirty="0"/>
              <a:t>
The Java service deploys in under two minutes. The Python one takes nine times longer, and it is the same pipeline - the difference is entirely what is inside the image.</a:t>
            </a:r>
          </a:p>
          <a:p>
            <a:r>
              <a:rPr lang="en-US" dirty="0"/>
              <a:t>
The point for them: the modelling stack you pick sets how fast you can ship a fix.</a:t>
            </a:r>
          </a:p>
          <a:p>
            <a:r>
              <a:rPr lang="en-US" dirty="0"/>
              <a:t> </a:t>
            </a:r>
          </a:p>
          <a:p>
            <a:r>
              <a:rPr lang="en-US" dirty="0"/>
              <a:t>That is a cost nobody mentions when choosing TensorFlow.</a:t>
            </a:r>
          </a:p>
          <a:p>
            <a:r>
              <a:rPr lang="en-US" dirty="0"/>
              <a:t>
If someone asks how to speed it up, say there are three or four levers and you are happy to go through them afterwards - do not spend class time on Docker.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Point at the two bars hanging below the line and ask them why. Wait.</a:t>
            </a:r>
          </a:p>
          <a:p>
            <a:pPr marL="171450" lvl="0" indent="-171450" rtl="0">
              <a:buFont typeface="Arial" panose="020B0604020202020204" pitchFamily="34" charset="0"/>
              <a:buChar char="•"/>
            </a:pPr>
            <a:r>
              <a:rPr lang="en-US" dirty="0"/>
              <a:t>A negative score means the </a:t>
            </a:r>
            <a:r>
              <a:rPr lang="en-US" b="1" dirty="0"/>
              <a:t>model did worse than just guessing the average</a:t>
            </a:r>
            <a:r>
              <a:rPr lang="en-US" dirty="0"/>
              <a:t>. Both tree models managed it.</a:t>
            </a:r>
          </a:p>
          <a:p>
            <a:pPr marL="171450" lvl="0" indent="-171450" rtl="0">
              <a:buFont typeface="Arial" panose="020B0604020202020204" pitchFamily="34" charset="0"/>
              <a:buChar char="•"/>
            </a:pPr>
            <a:r>
              <a:rPr lang="en-US" dirty="0"/>
              <a:t>The answer, when you give it: a tree can only ever output a number it already saw in training. It averages the values sitting in a leaf.</a:t>
            </a:r>
          </a:p>
          <a:p>
            <a:pPr marL="171450" lvl="0" indent="-171450" rtl="0">
              <a:buFont typeface="Arial" panose="020B0604020202020204" pitchFamily="34" charset="0"/>
              <a:buChar char="•"/>
            </a:pPr>
            <a:r>
              <a:rPr lang="en-US" dirty="0"/>
              <a:t>SOFR went from near zero to over five percent. The trees had never seen numbers that high, so they could not go there.</a:t>
            </a:r>
          </a:p>
          <a:p>
            <a:pPr marL="171450" lvl="0" indent="-171450" rtl="0">
              <a:buFont typeface="Arial" panose="020B0604020202020204" pitchFamily="34" charset="0"/>
              <a:buChar char="•"/>
            </a:pPr>
            <a:r>
              <a:rPr lang="en-US" dirty="0"/>
              <a:t>Linear regression has no such ceiling. The simplest model won because of the shape of the data, not because it is cleverer.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Read the table, then stop on rows one and three: 245 against 241, 335 against 343, 113 against 116. Those two move together because one was trained on the other’s labels — the design from part one.</a:t>
            </a:r>
          </a:p>
          <a:p>
            <a:pPr marL="171450" lvl="0" indent="-171450" rtl="0">
              <a:buFont typeface="Arial" panose="020B0604020202020204" pitchFamily="34" charset="0"/>
              <a:buChar char="•"/>
            </a:pPr>
            <a:r>
              <a:rPr lang="en-US" dirty="0"/>
              <a:t>The middle row is the only independent one. Different method, different inputs, no shared training.</a:t>
            </a:r>
          </a:p>
          <a:p>
            <a:pPr marL="171450" lvl="0" indent="-171450" rtl="0">
              <a:buFont typeface="Arial" panose="020B0604020202020204" pitchFamily="34" charset="0"/>
              <a:buChar char="•"/>
            </a:pPr>
            <a:r>
              <a:rPr lang="en-US" dirty="0"/>
              <a:t>COVID is the clearest example: the Autoencoder flagged March 2020 on both currency pairs. Clustering missed it, because clustering only looks at the rate level, and the level still looked normal.</a:t>
            </a:r>
          </a:p>
          <a:p>
            <a:pPr marL="171450" lvl="0" indent="-171450" rtl="0">
              <a:buFont typeface="Arial" panose="020B0604020202020204" pitchFamily="34" charset="0"/>
              <a:buChar char="•"/>
            </a:pPr>
            <a:r>
              <a:rPr lang="en-US" dirty="0"/>
              <a:t>Then September 2019 on SOFR: 21 times the threshold, the most extreme reading in the whole study — and the Autoencoder found it alone.</a:t>
            </a:r>
          </a:p>
          <a:p>
            <a:pPr marL="171450" lvl="0" indent="-171450" rtl="0">
              <a:buFont typeface="Arial" panose="020B0604020202020204" pitchFamily="34" charset="0"/>
              <a:buChar char="•"/>
            </a:pPr>
            <a:r>
              <a:rPr lang="en-US" dirty="0"/>
              <a:t>The design point: my rule needs two votes out of three, so it throws that one away. The system discards its own best detection.</a:t>
            </a:r>
          </a:p>
          <a:p>
            <a:pPr marL="171450" lvl="0" indent="-171450" rtl="0">
              <a:buFont typeface="Arial" panose="020B0604020202020204" pitchFamily="34" charset="0"/>
              <a:buChar char="•"/>
            </a:pPr>
            <a:r>
              <a:rPr lang="en-US" dirty="0"/>
              <a:t>If asked what the detectors actually found: about two thirds of the ZAR/EUR flags are just the start of the series. Say it before someone else spots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back to the very first problem slide: a customer quoted off a bad rate, and the deal is binding. This is the point in the flow where that gets stopped.
Trace one path with the cursor. A rate arrives and goes down two branches at once - what did we expect this to be, and does it look like anything we have seen before. Different questions, different models.
For a dealer the two answers arrive together: an expected value, the actual value, the gap between them, whether the detectors agreed, and what to do about it.
Be precise about the first one. It is a reference value, not a forecast to trade on. My own results chapter says the prediction layer barely beats carrying yesterday forward.
The second benefit is the one dealers actually care about: the flag comes with a reason. Which detectors agreed, and how strongly. Not a black box saying no.
And the third: it runs before the quote, not in the morning reconciliation. That is the difference between catching a bad rate and explaining one.
Say plainly whether this screen is shipped or designed. Do not let them assume.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Ask if there are questions on the technical part before you move on.
Then shift tone - this section is advice, not findings.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blunt: nobody in an interview asked me to explain K-Means.
They asked whether I could write SQL, and whether my code ran anywhere other than my laptop.
Breadth of algorithms is not the bottleneck. This surprises people.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thesis is an example of this, but theirs can be a weekend project.
Emphasise finished and running over ambitious and abandoned.
Scope small deliberately - one data source, one table, one chart, deployed.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Everyone can train a model; almost no junior can show idempotent ingestion.
Tell them: put the unglamorous work where a reviewer can see it.
A README with a diagram puts you ahead of most applicants. That is a low bar and a real advantage.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five-beat structure and say it works for any project.
Insist on the failure story. Interviewers are listening for judgement, not features.
Mine is the unseeded autoencoder: two refits on identical data returned thresholds 57 percent apart, so the same rate could be flagged under one artefact and cleared under the other. Nothing in the pipeline told me - I found it in the run log. Tell it in about forty seconds, the way you would in an interview.</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for students still deciding. Keep it neutral, do not talk one down.
Say what you have observed about roles advertised, but flag it as your own impression.
The shared row is the real message - both jobs are mostly 'is this number right?'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documentation over courses for tools - docs are current, courses are not.
Kleppmann is the one book worth reading cover to cover for this field.
Order matters: build first, then read. Reading first does not stick.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something they can act on today. Keep it to three.
Offer to look at their repo - and mean it. One or two will take you up on it.</a:t>
            </a:r>
          </a:p>
          <a:p>
            <a:endParaRPr lang="en-US" dirty="0"/>
          </a:p>
          <a:p>
            <a:endParaRPr lang="en-US" dirty="0"/>
          </a:p>
          <a:p>
            <a:r>
              <a:rPr lang="en-US" dirty="0"/>
              <a:t>Work wise</a:t>
            </a:r>
          </a:p>
          <a:p>
            <a:endParaRPr lang="en-US" dirty="0"/>
          </a:p>
          <a:p>
            <a:r>
              <a:rPr lang="en-US" dirty="0"/>
              <a:t>Bank Graduate </a:t>
            </a:r>
            <a:r>
              <a:rPr lang="en-US" dirty="0" err="1"/>
              <a:t>Programmes</a:t>
            </a:r>
            <a:r>
              <a:rPr lang="en-US" dirty="0"/>
              <a:t> – almost all banks, they run yearly.</a:t>
            </a:r>
            <a:br>
              <a:rPr lang="en-US" dirty="0"/>
            </a:br>
            <a:r>
              <a:rPr lang="en-US" dirty="0"/>
              <a:t>Rotations – rotations, how they work?</a:t>
            </a:r>
          </a:p>
          <a:p>
            <a:br>
              <a:rPr lang="en-US" dirty="0"/>
            </a:br>
            <a:r>
              <a:rPr lang="en-US" dirty="0"/>
              <a:t>Consulting Firms, these normally come with strong candidates.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If it goes quiet, ask them: how would you have found out that the same model was giving two different answers?</a:t>
            </a:r>
          </a:p>
          <a:p>
            <a:r>
              <a:rPr lang="en-US" dirty="0"/>
              <a:t>Consensus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thesis in one screen. Submit a rate, three detectors vote, two of three escalates.
Drop validate.png into the dashed frame.
Click back to return to the grid.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the consensus verdict and which detectors agreed.
Drop alerts.png into the dashed frame.
If the rows here are test data, say so before anyone asks.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deployment story from part one — the cluster matching what is in Git.
Drop argocd.png into the dashed frame.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215632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28065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AF8F5"/>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1000" dirty="0">
                <a:solidFill>
                  <a:srgbClr val="8B929C"/>
                </a:solidFill>
              </a:rPr>
              <a:t>MarketGuard  ·  Sive Jozi</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C1F24"/>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2286000"/>
            <a:ext cx="11057839" cy="384048"/>
          </a:xfrm>
          <a:prstGeom prst="rect">
            <a:avLst/>
          </a:prstGeom>
          <a:noFill/>
          <a:ln/>
        </p:spPr>
        <p:txBody>
          <a:bodyPr wrap="square" rtlCol="0"/>
          <a:lstStyle>
            <a:lvl1pPr marL="0" indent="0" algn="l">
              <a:buNone/>
              <a:defRPr lang="en-US" sz="1300" b="1" kern="0" spc="240" dirty="0">
                <a:solidFill>
                  <a:srgbClr val="E0B9C6"/>
                </a:solidFill>
              </a:defRPr>
            </a:lvl1pPr>
          </a:lstStyle>
          <a:p>
            <a:pPr marL="0" indent="0" algn="l">
              <a:buNone/>
            </a:pPr>
            <a:endParaRPr lang="en-US" sz="1300" dirty="0"/>
          </a:p>
        </p:txBody>
      </p:sp>
      <p:sp>
        <p:nvSpPr>
          <p:cNvPr id="3" name="Text 0"/>
          <p:cNvSpPr>
            <a:spLocks noGrp="1"/>
          </p:cNvSpPr>
          <p:nvPr>
            <p:ph type="title" idx="101" hasCustomPrompt="1"/>
          </p:nvPr>
        </p:nvSpPr>
        <p:spPr>
          <a:xfrm>
            <a:off x="566928" y="2743200"/>
            <a:ext cx="8595360" cy="1188720"/>
          </a:xfrm>
          <a:prstGeom prst="rect">
            <a:avLst/>
          </a:prstGeom>
          <a:noFill/>
          <a:ln/>
        </p:spPr>
        <p:txBody>
          <a:bodyPr wrap="square" rtlCol="0"/>
          <a:lstStyle>
            <a:lvl1pPr marL="0" indent="0" algn="l">
              <a:buNone/>
              <a:defRPr lang="en-US" sz="4400" b="1" dirty="0">
                <a:solidFill>
                  <a:srgbClr val="FFFFFF"/>
                </a:solidFill>
              </a:defRPr>
            </a:lvl1pPr>
          </a:lstStyle>
          <a:p>
            <a:pPr marL="0" indent="0" algn="l">
              <a:buNone/>
            </a:pPr>
            <a:endParaRPr lang="en-US" sz="4400" dirty="0"/>
          </a:p>
        </p:txBody>
      </p:sp>
      <p:sp>
        <p:nvSpPr>
          <p:cNvPr id="4" name="Text 0"/>
          <p:cNvSpPr>
            <a:spLocks noGrp="1"/>
          </p:cNvSpPr>
          <p:nvPr>
            <p:ph type="body" idx="102" hasCustomPrompt="1"/>
          </p:nvPr>
        </p:nvSpPr>
        <p:spPr>
          <a:xfrm>
            <a:off x="566928" y="3977640"/>
            <a:ext cx="7680960" cy="822960"/>
          </a:xfrm>
          <a:prstGeom prst="rect">
            <a:avLst/>
          </a:prstGeom>
          <a:noFill/>
          <a:ln/>
        </p:spPr>
        <p:txBody>
          <a:bodyPr wrap="square" rtlCol="0"/>
          <a:lstStyle>
            <a:lvl1pPr marL="0" indent="0" algn="l">
              <a:buNone/>
              <a:defRPr lang="en-US" sz="1800" dirty="0">
                <a:solidFill>
                  <a:srgbClr val="B9BEC6"/>
                </a:solidFill>
              </a:defRPr>
            </a:lvl1pPr>
          </a:lstStyle>
          <a:p>
            <a:pPr marL="0" indent="0" algn="l">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8F5"/>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lvl1pPr marL="0" indent="0" algn="l">
              <a:buNone/>
              <a:defRPr lang="en-US" sz="1200" b="1" kern="0" spc="220" dirty="0">
                <a:solidFill>
                  <a:srgbClr val="6B1F37"/>
                </a:solidFill>
              </a:defRPr>
            </a:lvl1pPr>
          </a:lstStyle>
          <a:p>
            <a:pPr marL="0" indent="0" algn="l">
              <a:buNone/>
            </a:pP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lvl1pPr marL="0" indent="0" algn="l">
              <a:buNone/>
              <a:defRPr lang="en-US" sz="3200" b="1" dirty="0">
                <a:solidFill>
                  <a:srgbClr val="1C1F24"/>
                </a:solidFill>
              </a:defRPr>
            </a:lvl1pPr>
          </a:lstStyle>
          <a:p>
            <a:pPr marL="0" indent="0" algn="l">
              <a:buNone/>
            </a:pPr>
            <a:endParaRPr lang="en-US" sz="3200" dirty="0"/>
          </a:p>
        </p:txBody>
      </p:sp>
      <p:sp>
        <p:nvSpPr>
          <p:cNvPr id="4" name="Text 0"/>
          <p:cNvSpPr txBox="1"/>
          <p:nvPr/>
        </p:nvSpPr>
        <p:spPr>
          <a:xfrm>
            <a:off x="566928" y="6437376"/>
            <a:ext cx="5486400" cy="256032"/>
          </a:xfrm>
          <a:prstGeom prst="rect">
            <a:avLst/>
          </a:prstGeom>
          <a:noFill/>
          <a:ln/>
        </p:spPr>
        <p:txBody>
          <a:bodyPr wrap="square" lIns="0" tIns="0" rIns="0" bIns="0" rtlCol="0" anchor="ctr"/>
          <a:lstStyle/>
          <a:p>
            <a:pPr marL="0" indent="0">
              <a:buNone/>
            </a:pPr>
            <a:r>
              <a:rPr lang="en-US" sz="950" dirty="0">
                <a:solidFill>
                  <a:srgbClr val="8B929C"/>
                </a:solidFill>
              </a:rPr>
              <a:t>MarketGuard  ·  Sive Jozi</a:t>
            </a:r>
            <a:endParaRPr lang="en-US" sz="9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slide" Target="slide35.xml"/><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slide" Target="slide31.xml"/><Relationship Id="rId7" Type="http://schemas.openxmlformats.org/officeDocument/2006/relationships/slide" Target="slide34.xml"/><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notesSlide" Target="../notesSlides/notesSlide18.xml"/><Relationship Id="rId16"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slide" Target="slide28.xml"/><Relationship Id="rId11" Type="http://schemas.openxmlformats.org/officeDocument/2006/relationships/image" Target="../media/image7.png"/><Relationship Id="rId5" Type="http://schemas.openxmlformats.org/officeDocument/2006/relationships/slide" Target="slide33.xml"/><Relationship Id="rId15" Type="http://schemas.openxmlformats.org/officeDocument/2006/relationships/image" Target="../media/image11.png"/><Relationship Id="rId10" Type="http://schemas.openxmlformats.org/officeDocument/2006/relationships/slide" Target="slide30.xml"/><Relationship Id="rId4" Type="http://schemas.openxmlformats.org/officeDocument/2006/relationships/slide" Target="slide32.xml"/><Relationship Id="rId9" Type="http://schemas.openxmlformats.org/officeDocument/2006/relationships/slide" Target="slide29.xml"/><Relationship Id="rId1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1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 Target="slide1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1051560"/>
            <a:ext cx="6035040" cy="310896"/>
          </a:xfrm>
          <a:prstGeom prst="rect">
            <a:avLst/>
          </a:prstGeom>
          <a:noFill/>
          <a:ln/>
        </p:spPr>
        <p:txBody>
          <a:bodyPr wrap="square" lIns="0" tIns="0" rIns="0" bIns="0" rtlCol="0" anchor="ctr"/>
          <a:lstStyle/>
          <a:p>
            <a:pPr marL="0" indent="0">
              <a:buNone/>
            </a:pPr>
            <a:r>
              <a:rPr lang="en-US" sz="1200" b="1" kern="0" spc="220" dirty="0">
                <a:solidFill>
                  <a:srgbClr val="6B1F37"/>
                </a:solidFill>
              </a:rPr>
              <a:t>GUEST LECTURE  ·  DATA ENGINEERING  ·  OCTOBER 2026</a:t>
            </a:r>
            <a:endParaRPr lang="en-US" sz="1200" dirty="0"/>
          </a:p>
        </p:txBody>
      </p:sp>
      <p:sp>
        <p:nvSpPr>
          <p:cNvPr id="3" name="Text 1"/>
          <p:cNvSpPr txBox="1"/>
          <p:nvPr/>
        </p:nvSpPr>
        <p:spPr>
          <a:xfrm>
            <a:off x="566928" y="1444752"/>
            <a:ext cx="6035040" cy="2057400"/>
          </a:xfrm>
          <a:prstGeom prst="rect">
            <a:avLst/>
          </a:prstGeom>
          <a:noFill/>
          <a:ln/>
        </p:spPr>
        <p:txBody>
          <a:bodyPr wrap="square" lIns="0" tIns="0" rIns="0" bIns="0" rtlCol="0" anchor="t"/>
          <a:lstStyle/>
          <a:p>
            <a:pPr marL="0" indent="0">
              <a:lnSpc>
                <a:spcPct val="98000"/>
              </a:lnSpc>
              <a:buNone/>
            </a:pPr>
            <a:r>
              <a:rPr lang="en-US" sz="3800" b="1" dirty="0">
                <a:solidFill>
                  <a:srgbClr val="1C1F24"/>
                </a:solidFill>
              </a:rPr>
              <a:t>Building a production data pipeline for financial market data</a:t>
            </a:r>
            <a:endParaRPr lang="en-US" sz="3800" dirty="0"/>
          </a:p>
        </p:txBody>
      </p:sp>
      <p:sp>
        <p:nvSpPr>
          <p:cNvPr id="4" name="Text 2"/>
          <p:cNvSpPr txBox="1"/>
          <p:nvPr/>
        </p:nvSpPr>
        <p:spPr>
          <a:xfrm>
            <a:off x="566928" y="3529584"/>
            <a:ext cx="5760720" cy="548640"/>
          </a:xfrm>
          <a:prstGeom prst="rect">
            <a:avLst/>
          </a:prstGeom>
          <a:noFill/>
          <a:ln/>
        </p:spPr>
        <p:txBody>
          <a:bodyPr wrap="square" lIns="0" tIns="0" rIns="0" bIns="0" rtlCol="0" anchor="ctr"/>
          <a:lstStyle/>
          <a:p>
            <a:pPr marL="0" indent="0">
              <a:buNone/>
            </a:pPr>
            <a:r>
              <a:rPr lang="en-US" sz="1700" dirty="0">
                <a:solidFill>
                  <a:srgbClr val="5F6772"/>
                </a:solidFill>
              </a:rPr>
              <a:t>What I built, what it found, and what I’d tell you to learn.</a:t>
            </a:r>
            <a:endParaRPr lang="en-US" sz="1700" dirty="0"/>
          </a:p>
        </p:txBody>
      </p:sp>
      <p:sp>
        <p:nvSpPr>
          <p:cNvPr id="5" name="Text 3"/>
          <p:cNvSpPr txBox="1"/>
          <p:nvPr/>
        </p:nvSpPr>
        <p:spPr>
          <a:xfrm>
            <a:off x="566928" y="4224528"/>
            <a:ext cx="6035040" cy="1371600"/>
          </a:xfrm>
          <a:prstGeom prst="rect">
            <a:avLst/>
          </a:prstGeom>
          <a:noFill/>
          <a:ln/>
        </p:spPr>
        <p:txBody>
          <a:bodyPr wrap="square" lIns="0" tIns="0" rIns="0" bIns="0" rtlCol="0" anchor="ctr"/>
          <a:lstStyle/>
          <a:p>
            <a:pPr marL="0" indent="0">
              <a:lnSpc>
                <a:spcPct val="112000"/>
              </a:lnSpc>
              <a:buNone/>
            </a:pPr>
            <a:r>
              <a:rPr lang="en-US" sz="1600" b="1" dirty="0">
                <a:solidFill>
                  <a:srgbClr val="1C1F24"/>
                </a:solidFill>
              </a:rPr>
              <a:t>Sive Jozi</a:t>
            </a:r>
            <a:endParaRPr lang="en-US" sz="1600" dirty="0"/>
          </a:p>
          <a:p>
            <a:pPr marL="0" indent="0">
              <a:lnSpc>
                <a:spcPct val="112000"/>
              </a:lnSpc>
              <a:buNone/>
            </a:pPr>
            <a:r>
              <a:rPr lang="en-US" sz="1400" dirty="0">
                <a:solidFill>
                  <a:srgbClr val="5F6772"/>
                </a:solidFill>
              </a:rPr>
              <a:t>Forex Technologies  ·  Capitec</a:t>
            </a:r>
            <a:endParaRPr lang="en-US" sz="1600" dirty="0"/>
          </a:p>
          <a:p>
            <a:pPr marL="0" indent="0">
              <a:lnSpc>
                <a:spcPct val="112000"/>
              </a:lnSpc>
              <a:buNone/>
            </a:pPr>
            <a:r>
              <a:rPr lang="en-US" sz="1400" dirty="0">
                <a:solidFill>
                  <a:srgbClr val="5F6772"/>
                </a:solidFill>
              </a:rPr>
              <a:t>Currently: MEng Data Science  ·  Stellenbosch University</a:t>
            </a:r>
            <a:endParaRPr lang="en-US" sz="1600" dirty="0"/>
          </a:p>
          <a:p>
            <a:pPr marL="0" indent="0">
              <a:lnSpc>
                <a:spcPct val="112000"/>
              </a:lnSpc>
              <a:buNone/>
            </a:pPr>
            <a:r>
              <a:rPr lang="en-US" sz="1400" dirty="0">
                <a:solidFill>
                  <a:srgbClr val="5F6772"/>
                </a:solidFill>
              </a:rPr>
              <a:t>From: BSc Computer Science and Mathematics</a:t>
            </a:r>
            <a:endParaRPr lang="en-US" sz="1600" dirty="0"/>
          </a:p>
        </p:txBody>
      </p:sp>
      <p:pic>
        <p:nvPicPr>
          <p:cNvPr id="6" name="hero" descr="figs/marketguard_banner.png"/>
          <p:cNvPicPr>
            <a:picLocks noChangeAspect="1"/>
          </p:cNvPicPr>
          <p:nvPr/>
        </p:nvPicPr>
        <p:blipFill>
          <a:blip r:embed="rId3"/>
          <a:stretch>
            <a:fillRect/>
          </a:stretch>
        </p:blipFill>
        <p:spPr>
          <a:xfrm>
            <a:off x="6784848" y="2065376"/>
            <a:ext cx="4846320" cy="27272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WHO I AM</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Twelve years of this breaking in production</a:t>
            </a:r>
            <a:endParaRPr lang="en-US" sz="3200" dirty="0"/>
          </a:p>
        </p:txBody>
      </p:sp>
      <p:sp>
        <p:nvSpPr>
          <p:cNvPr id="5" name="Text 2"/>
          <p:cNvSpPr txBox="1"/>
          <p:nvPr/>
        </p:nvSpPr>
        <p:spPr>
          <a:xfrm>
            <a:off x="566928" y="1481328"/>
            <a:ext cx="5394960" cy="4791456"/>
          </a:xfrm>
          <a:prstGeom prst="rect">
            <a:avLst/>
          </a:prstGeom>
          <a:noFill/>
          <a:ln/>
        </p:spPr>
        <p:txBody>
          <a:bodyPr wrap="square" lIns="0" tIns="0" rIns="0" bIns="0" rtlCol="0" anchor="ctr"/>
          <a:lstStyle/>
          <a:p>
            <a:pPr marL="342900" indent="-342900">
              <a:lnSpc>
                <a:spcPct val="108000"/>
              </a:lnSpc>
              <a:spcAft>
                <a:spcPts val="300"/>
              </a:spcAft>
              <a:buSzPct val="100000"/>
              <a:buChar char="●"/>
            </a:pPr>
            <a:r>
              <a:rPr lang="en-US" sz="1600" b="1" dirty="0">
                <a:solidFill>
                  <a:srgbClr val="1C1F24"/>
                </a:solidFill>
              </a:rPr>
              <a:t>Forex Technologies — Capitec</a:t>
            </a:r>
            <a:endParaRPr lang="en-US" sz="1600" dirty="0"/>
          </a:p>
          <a:p>
            <a:pPr marL="0" lvl="1" indent="0">
              <a:lnSpc>
                <a:spcPct val="108000"/>
              </a:lnSpc>
              <a:spcAft>
                <a:spcPts val="1800"/>
              </a:spcAft>
              <a:buNone/>
            </a:pPr>
            <a:r>
              <a:rPr lang="en-US" sz="1300" dirty="0">
                <a:solidFill>
                  <a:srgbClr val="5F6772"/>
                </a:solidFill>
              </a:rPr>
              <a:t>Currently. Johannesburg.</a:t>
            </a:r>
            <a:endParaRPr lang="en-US" sz="1600" dirty="0"/>
          </a:p>
          <a:p>
            <a:pPr marL="342900" indent="-342900">
              <a:lnSpc>
                <a:spcPct val="108000"/>
              </a:lnSpc>
              <a:spcAft>
                <a:spcPts val="300"/>
              </a:spcAft>
              <a:buSzPct val="100000"/>
              <a:buChar char="●"/>
            </a:pPr>
            <a:r>
              <a:rPr lang="en-US" sz="1600" b="1" dirty="0">
                <a:solidFill>
                  <a:srgbClr val="1C1F24"/>
                </a:solidFill>
              </a:rPr>
              <a:t>Before that: trading systems, mostly Java</a:t>
            </a:r>
            <a:endParaRPr lang="en-US" sz="1600" dirty="0"/>
          </a:p>
          <a:p>
            <a:pPr marL="0" lvl="1" indent="0">
              <a:lnSpc>
                <a:spcPct val="108000"/>
              </a:lnSpc>
              <a:spcAft>
                <a:spcPts val="1800"/>
              </a:spcAft>
              <a:buNone/>
            </a:pPr>
            <a:r>
              <a:rPr lang="en-US" sz="1300" dirty="0">
                <a:solidFill>
                  <a:srgbClr val="5F6772"/>
                </a:solidFill>
              </a:rPr>
              <a:t>About ten years at Standard Bank.</a:t>
            </a:r>
            <a:endParaRPr lang="en-US" sz="1600" dirty="0"/>
          </a:p>
          <a:p>
            <a:pPr marL="342900" indent="-342900">
              <a:lnSpc>
                <a:spcPct val="108000"/>
              </a:lnSpc>
              <a:spcAft>
                <a:spcPts val="1400"/>
              </a:spcAft>
              <a:buSzPct val="100000"/>
              <a:buChar char="●"/>
            </a:pPr>
            <a:r>
              <a:rPr lang="en-US" sz="1600" b="1" dirty="0">
                <a:solidFill>
                  <a:srgbClr val="1C1F24"/>
                </a:solidFill>
              </a:rPr>
              <a:t>MEng Data Science, Stellenbosch</a:t>
            </a:r>
            <a:endParaRPr lang="en-US" sz="1600" dirty="0"/>
          </a:p>
        </p:txBody>
      </p:sp>
      <p:sp>
        <p:nvSpPr>
          <p:cNvPr id="6" name="callout-card"/>
          <p:cNvSpPr/>
          <p:nvPr/>
        </p:nvSpPr>
        <p:spPr>
          <a:xfrm>
            <a:off x="6400800" y="2734056"/>
            <a:ext cx="5257800" cy="228600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7" name="callout-rule"/>
          <p:cNvSpPr/>
          <p:nvPr/>
        </p:nvSpPr>
        <p:spPr>
          <a:xfrm>
            <a:off x="6400800" y="2734056"/>
            <a:ext cx="41148" cy="2286000"/>
          </a:xfrm>
          <a:prstGeom prst="rect">
            <a:avLst/>
          </a:prstGeom>
          <a:solidFill>
            <a:srgbClr val="6B1F37"/>
          </a:solidFill>
          <a:ln w="12700">
            <a:solidFill>
              <a:srgbClr val="333333"/>
            </a:solidFill>
            <a:prstDash val="solid"/>
          </a:ln>
        </p:spPr>
        <p:txBody>
          <a:bodyPr/>
          <a:lstStyle/>
          <a:p>
            <a:endParaRPr lang="en-US"/>
          </a:p>
        </p:txBody>
      </p:sp>
      <p:sp>
        <p:nvSpPr>
          <p:cNvPr id="8" name="Text 5"/>
          <p:cNvSpPr txBox="1"/>
          <p:nvPr/>
        </p:nvSpPr>
        <p:spPr>
          <a:xfrm>
            <a:off x="6675120" y="2825496"/>
            <a:ext cx="4754880" cy="210312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Part of my job at Standard Bank was pulling market data out of Bloomberg and Murex and checking it was right before the desks traded on it.</a:t>
            </a:r>
            <a:endParaRPr lang="en-US" sz="1500" dirty="0"/>
          </a:p>
          <a:p>
            <a:pPr marL="0" indent="0">
              <a:lnSpc>
                <a:spcPct val="106000"/>
              </a:lnSpc>
              <a:buNone/>
            </a:pPr>
            <a:endParaRPr lang="en-US" sz="1500" dirty="0"/>
          </a:p>
          <a:p>
            <a:pPr marL="0" indent="0">
              <a:lnSpc>
                <a:spcPct val="106000"/>
              </a:lnSpc>
              <a:buNone/>
            </a:pPr>
            <a:r>
              <a:rPr lang="en-US" sz="1150" dirty="0">
                <a:solidFill>
                  <a:srgbClr val="8B929C"/>
                </a:solidFill>
              </a:rPr>
              <a:t>I did not pick this research topic. A decade of watching that break picked it for me.</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ROADMAP</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Three parts</a:t>
            </a:r>
            <a:endParaRPr lang="en-US" sz="3200" dirty="0"/>
          </a:p>
        </p:txBody>
      </p:sp>
      <p:sp>
        <p:nvSpPr>
          <p:cNvPr id="5" name="num-0"/>
          <p:cNvSpPr/>
          <p:nvPr/>
        </p:nvSpPr>
        <p:spPr>
          <a:xfrm>
            <a:off x="566928" y="1801368"/>
            <a:ext cx="713232" cy="713232"/>
          </a:xfrm>
          <a:prstGeom prst="ellipse">
            <a:avLst/>
          </a:prstGeom>
          <a:solidFill>
            <a:srgbClr val="6B1F37"/>
          </a:solidFill>
          <a:ln w="12700">
            <a:solidFill>
              <a:srgbClr val="333333"/>
            </a:solidFill>
            <a:prstDash val="solid"/>
          </a:ln>
        </p:spPr>
        <p:txBody>
          <a:bodyPr/>
          <a:lstStyle/>
          <a:p>
            <a:endParaRPr lang="en-US"/>
          </a:p>
        </p:txBody>
      </p:sp>
      <p:sp>
        <p:nvSpPr>
          <p:cNvPr id="6" name="Text 3"/>
          <p:cNvSpPr txBox="1"/>
          <p:nvPr/>
        </p:nvSpPr>
        <p:spPr>
          <a:xfrm>
            <a:off x="566928" y="1801368"/>
            <a:ext cx="713232" cy="713232"/>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7" name="Text 4"/>
          <p:cNvSpPr txBox="1"/>
          <p:nvPr/>
        </p:nvSpPr>
        <p:spPr>
          <a:xfrm>
            <a:off x="1527048" y="1764792"/>
            <a:ext cx="9692640" cy="1097280"/>
          </a:xfrm>
          <a:prstGeom prst="rect">
            <a:avLst/>
          </a:prstGeom>
          <a:noFill/>
          <a:ln/>
        </p:spPr>
        <p:txBody>
          <a:bodyPr wrap="square" lIns="0" tIns="0" rIns="0" bIns="0" rtlCol="0" anchor="t"/>
          <a:lstStyle/>
          <a:p>
            <a:pPr marL="0" indent="0">
              <a:lnSpc>
                <a:spcPct val="108000"/>
              </a:lnSpc>
              <a:buNone/>
            </a:pPr>
            <a:r>
              <a:rPr lang="en-US" sz="2200" b="1" dirty="0">
                <a:solidFill>
                  <a:srgbClr val="1C1F24"/>
                </a:solidFill>
              </a:rPr>
              <a:t>What I built</a:t>
            </a:r>
            <a:endParaRPr lang="en-US" sz="2200" dirty="0"/>
          </a:p>
          <a:p>
            <a:pPr marL="0" indent="0">
              <a:lnSpc>
                <a:spcPct val="108000"/>
              </a:lnSpc>
              <a:buNone/>
            </a:pPr>
            <a:r>
              <a:rPr lang="en-US" sz="1450" dirty="0">
                <a:solidFill>
                  <a:srgbClr val="5F6772"/>
                </a:solidFill>
              </a:rPr>
              <a:t>Ingestion, an event bus, feature computation, the models, deployment.</a:t>
            </a:r>
            <a:endParaRPr lang="en-US" sz="2200" dirty="0"/>
          </a:p>
        </p:txBody>
      </p:sp>
      <p:sp>
        <p:nvSpPr>
          <p:cNvPr id="8" name="num-1"/>
          <p:cNvSpPr/>
          <p:nvPr/>
        </p:nvSpPr>
        <p:spPr>
          <a:xfrm>
            <a:off x="566928" y="3310128"/>
            <a:ext cx="713232" cy="713232"/>
          </a:xfrm>
          <a:prstGeom prst="ellipse">
            <a:avLst/>
          </a:prstGeom>
          <a:solidFill>
            <a:srgbClr val="6B1F37"/>
          </a:solidFill>
          <a:ln w="12700">
            <a:solidFill>
              <a:srgbClr val="333333"/>
            </a:solidFill>
            <a:prstDash val="solid"/>
          </a:ln>
        </p:spPr>
        <p:txBody>
          <a:bodyPr/>
          <a:lstStyle/>
          <a:p>
            <a:endParaRPr lang="en-US"/>
          </a:p>
        </p:txBody>
      </p:sp>
      <p:sp>
        <p:nvSpPr>
          <p:cNvPr id="9" name="Text 6"/>
          <p:cNvSpPr txBox="1"/>
          <p:nvPr/>
        </p:nvSpPr>
        <p:spPr>
          <a:xfrm>
            <a:off x="566928" y="3310128"/>
            <a:ext cx="713232" cy="713232"/>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0" name="Text 7"/>
          <p:cNvSpPr txBox="1"/>
          <p:nvPr/>
        </p:nvSpPr>
        <p:spPr>
          <a:xfrm>
            <a:off x="1527048" y="3273552"/>
            <a:ext cx="9692640" cy="1097280"/>
          </a:xfrm>
          <a:prstGeom prst="rect">
            <a:avLst/>
          </a:prstGeom>
          <a:noFill/>
          <a:ln/>
        </p:spPr>
        <p:txBody>
          <a:bodyPr wrap="square" lIns="0" tIns="0" rIns="0" bIns="0" rtlCol="0" anchor="t"/>
          <a:lstStyle/>
          <a:p>
            <a:pPr marL="0" indent="0">
              <a:lnSpc>
                <a:spcPct val="108000"/>
              </a:lnSpc>
              <a:buNone/>
            </a:pPr>
            <a:r>
              <a:rPr lang="en-US" sz="2200" b="1" dirty="0">
                <a:solidFill>
                  <a:srgbClr val="1C1F24"/>
                </a:solidFill>
              </a:rPr>
              <a:t>What it found</a:t>
            </a:r>
            <a:endParaRPr lang="en-US" sz="2200" dirty="0"/>
          </a:p>
          <a:p>
            <a:pPr marL="0" indent="0">
              <a:lnSpc>
                <a:spcPct val="108000"/>
              </a:lnSpc>
              <a:buNone/>
            </a:pPr>
            <a:r>
              <a:rPr lang="en-US" sz="1450" dirty="0">
                <a:solidFill>
                  <a:srgbClr val="5F6772"/>
                </a:solidFill>
              </a:rPr>
              <a:t>Prediction and validation results.</a:t>
            </a:r>
            <a:endParaRPr lang="en-US" sz="2200" dirty="0"/>
          </a:p>
        </p:txBody>
      </p:sp>
      <p:sp>
        <p:nvSpPr>
          <p:cNvPr id="11" name="num-2"/>
          <p:cNvSpPr/>
          <p:nvPr/>
        </p:nvSpPr>
        <p:spPr>
          <a:xfrm>
            <a:off x="566928" y="4818888"/>
            <a:ext cx="713232" cy="713232"/>
          </a:xfrm>
          <a:prstGeom prst="ellipse">
            <a:avLst/>
          </a:prstGeom>
          <a:solidFill>
            <a:srgbClr val="6B1F37"/>
          </a:solidFill>
          <a:ln w="12700">
            <a:solidFill>
              <a:srgbClr val="333333"/>
            </a:solidFill>
            <a:prstDash val="solid"/>
          </a:ln>
        </p:spPr>
        <p:txBody>
          <a:bodyPr/>
          <a:lstStyle/>
          <a:p>
            <a:endParaRPr lang="en-US"/>
          </a:p>
        </p:txBody>
      </p:sp>
      <p:sp>
        <p:nvSpPr>
          <p:cNvPr id="12" name="Text 9"/>
          <p:cNvSpPr txBox="1"/>
          <p:nvPr/>
        </p:nvSpPr>
        <p:spPr>
          <a:xfrm>
            <a:off x="566928" y="4818888"/>
            <a:ext cx="713232" cy="713232"/>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3" name="Text 10"/>
          <p:cNvSpPr txBox="1"/>
          <p:nvPr/>
        </p:nvSpPr>
        <p:spPr>
          <a:xfrm>
            <a:off x="1527048" y="4782312"/>
            <a:ext cx="9692640" cy="1097280"/>
          </a:xfrm>
          <a:prstGeom prst="rect">
            <a:avLst/>
          </a:prstGeom>
          <a:noFill/>
          <a:ln/>
        </p:spPr>
        <p:txBody>
          <a:bodyPr wrap="square" lIns="0" tIns="0" rIns="0" bIns="0" rtlCol="0" anchor="t"/>
          <a:lstStyle/>
          <a:p>
            <a:pPr marL="0" indent="0">
              <a:lnSpc>
                <a:spcPct val="108000"/>
              </a:lnSpc>
              <a:buNone/>
            </a:pPr>
            <a:r>
              <a:rPr lang="en-US" sz="2200" b="1" dirty="0">
                <a:solidFill>
                  <a:srgbClr val="1C1F24"/>
                </a:solidFill>
              </a:rPr>
              <a:t>Getting your first job</a:t>
            </a:r>
            <a:endParaRPr lang="en-US" sz="2200" dirty="0"/>
          </a:p>
          <a:p>
            <a:pPr marL="0" indent="0">
              <a:lnSpc>
                <a:spcPct val="108000"/>
              </a:lnSpc>
              <a:buNone/>
            </a:pPr>
            <a:r>
              <a:rPr lang="en-US" sz="1450" dirty="0">
                <a:solidFill>
                  <a:srgbClr val="5F6772"/>
                </a:solidFill>
              </a:rPr>
              <a:t>What to learn, what to build, and how to talk about it.</a:t>
            </a:r>
            <a:endParaRPr lang="en-US" sz="22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THE PROBLEM</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Market data is small, and it has to be right</a:t>
            </a:r>
            <a:endParaRPr lang="en-US" sz="3200" dirty="0"/>
          </a:p>
        </p:txBody>
      </p:sp>
      <p:sp>
        <p:nvSpPr>
          <p:cNvPr id="5" name="Text 2"/>
          <p:cNvSpPr txBox="1"/>
          <p:nvPr/>
        </p:nvSpPr>
        <p:spPr>
          <a:xfrm>
            <a:off x="566928" y="1481328"/>
            <a:ext cx="5669280" cy="4791456"/>
          </a:xfrm>
          <a:prstGeom prst="rect">
            <a:avLst/>
          </a:prstGeom>
          <a:noFill/>
          <a:ln/>
        </p:spPr>
        <p:txBody>
          <a:bodyPr wrap="square" lIns="0" tIns="0" rIns="0" bIns="0" rtlCol="0" anchor="ctr"/>
          <a:lstStyle/>
          <a:p>
            <a:pPr marL="342900" indent="-342900">
              <a:lnSpc>
                <a:spcPct val="108000"/>
              </a:lnSpc>
              <a:spcAft>
                <a:spcPts val="1400"/>
              </a:spcAft>
              <a:buSzPct val="100000"/>
              <a:buChar char="●"/>
            </a:pPr>
            <a:r>
              <a:rPr lang="en-US" sz="1600" b="1" dirty="0">
                <a:solidFill>
                  <a:srgbClr val="1C1F24"/>
                </a:solidFill>
              </a:rPr>
              <a:t>Exchange rates and interest rate fixings, published daily</a:t>
            </a:r>
            <a:endParaRPr lang="en-US" sz="1600" dirty="0"/>
          </a:p>
          <a:p>
            <a:pPr marL="342900" indent="-342900">
              <a:lnSpc>
                <a:spcPct val="108000"/>
              </a:lnSpc>
              <a:spcAft>
                <a:spcPts val="300"/>
              </a:spcAft>
              <a:buSzPct val="100000"/>
              <a:buChar char="●"/>
            </a:pPr>
            <a:r>
              <a:rPr lang="en-US" sz="1600" b="1" dirty="0">
                <a:solidFill>
                  <a:srgbClr val="1C1F24"/>
                </a:solidFill>
              </a:rPr>
              <a:t>A customer is quoted off a bad rate — and accepts it</a:t>
            </a:r>
            <a:endParaRPr lang="en-US" sz="1600" dirty="0"/>
          </a:p>
          <a:p>
            <a:pPr marL="0" lvl="1" indent="0">
              <a:lnSpc>
                <a:spcPct val="108000"/>
              </a:lnSpc>
              <a:spcAft>
                <a:spcPts val="1800"/>
              </a:spcAft>
              <a:buNone/>
            </a:pPr>
            <a:r>
              <a:rPr lang="en-US" sz="1300" dirty="0">
                <a:solidFill>
                  <a:srgbClr val="5F6772"/>
                </a:solidFill>
              </a:rPr>
              <a:t>That deal is binding. Nobody unwinds it in the morning because the feed was wrong.</a:t>
            </a:r>
            <a:endParaRPr lang="en-US" sz="1600" dirty="0"/>
          </a:p>
          <a:p>
            <a:pPr marL="342900" indent="-342900">
              <a:lnSpc>
                <a:spcPct val="108000"/>
              </a:lnSpc>
              <a:spcAft>
                <a:spcPts val="300"/>
              </a:spcAft>
              <a:buSzPct val="100000"/>
              <a:buChar char="●"/>
            </a:pPr>
            <a:r>
              <a:rPr lang="en-US" sz="1600" b="1" dirty="0">
                <a:solidFill>
                  <a:srgbClr val="1C1F24"/>
                </a:solidFill>
              </a:rPr>
              <a:t>Everything downstream consumes it</a:t>
            </a:r>
            <a:endParaRPr lang="en-US" sz="1600" dirty="0"/>
          </a:p>
          <a:p>
            <a:pPr marL="0" lvl="1" indent="0">
              <a:lnSpc>
                <a:spcPct val="108000"/>
              </a:lnSpc>
              <a:spcAft>
                <a:spcPts val="1800"/>
              </a:spcAft>
              <a:buNone/>
            </a:pPr>
            <a:r>
              <a:rPr lang="en-US" sz="1300" dirty="0">
                <a:solidFill>
                  <a:srgbClr val="5F6772"/>
                </a:solidFill>
              </a:rPr>
              <a:t>Pricing, risk, regulatory reporting, trading.</a:t>
            </a:r>
            <a:endParaRPr lang="en-US" sz="1600" dirty="0"/>
          </a:p>
          <a:p>
            <a:pPr marL="342900" indent="-342900">
              <a:lnSpc>
                <a:spcPct val="108000"/>
              </a:lnSpc>
              <a:spcAft>
                <a:spcPts val="1400"/>
              </a:spcAft>
              <a:buSzPct val="100000"/>
              <a:buChar char="●"/>
            </a:pPr>
            <a:r>
              <a:rPr lang="en-US" sz="1600" b="1" dirty="0">
                <a:solidFill>
                  <a:srgbClr val="1C1F24"/>
                </a:solidFill>
              </a:rPr>
              <a:t>One wrong rate propagates into every valuation that runs that night</a:t>
            </a:r>
            <a:endParaRPr lang="en-US" sz="1600" dirty="0"/>
          </a:p>
        </p:txBody>
      </p:sp>
      <p:sp>
        <p:nvSpPr>
          <p:cNvPr id="6" name="Text 3"/>
          <p:cNvSpPr txBox="1"/>
          <p:nvPr/>
        </p:nvSpPr>
        <p:spPr>
          <a:xfrm>
            <a:off x="6583680" y="1755648"/>
            <a:ext cx="2286000" cy="713232"/>
          </a:xfrm>
          <a:prstGeom prst="rect">
            <a:avLst/>
          </a:prstGeom>
          <a:noFill/>
          <a:ln/>
        </p:spPr>
        <p:txBody>
          <a:bodyPr wrap="square" lIns="0" tIns="0" rIns="0" bIns="0" rtlCol="0" anchor="b"/>
          <a:lstStyle/>
          <a:p>
            <a:pPr marL="0" indent="0">
              <a:buNone/>
            </a:pPr>
            <a:r>
              <a:rPr lang="en-US" sz="4600" b="1" dirty="0">
                <a:solidFill>
                  <a:srgbClr val="6B1F37"/>
                </a:solidFill>
              </a:rPr>
              <a:t>6,417</a:t>
            </a:r>
            <a:endParaRPr lang="en-US" sz="4600" dirty="0"/>
          </a:p>
        </p:txBody>
      </p:sp>
      <p:sp>
        <p:nvSpPr>
          <p:cNvPr id="7" name="Text 4"/>
          <p:cNvSpPr txBox="1"/>
          <p:nvPr/>
        </p:nvSpPr>
        <p:spPr>
          <a:xfrm>
            <a:off x="6583680" y="2505456"/>
            <a:ext cx="2286000" cy="685800"/>
          </a:xfrm>
          <a:prstGeom prst="rect">
            <a:avLst/>
          </a:prstGeom>
          <a:noFill/>
          <a:ln/>
        </p:spPr>
        <p:txBody>
          <a:bodyPr wrap="square" lIns="0" tIns="0" rIns="0" bIns="0" rtlCol="0" anchor="t"/>
          <a:lstStyle/>
          <a:p>
            <a:pPr marL="0" indent="0">
              <a:lnSpc>
                <a:spcPct val="105000"/>
              </a:lnSpc>
              <a:buNone/>
            </a:pPr>
            <a:r>
              <a:rPr lang="en-US" sz="1200" dirty="0">
                <a:solidFill>
                  <a:srgbClr val="5F6772"/>
                </a:solidFill>
              </a:rPr>
              <a:t>daily observations for one currency pair, 2000–2025</a:t>
            </a:r>
            <a:endParaRPr lang="en-US" sz="1200" dirty="0"/>
          </a:p>
        </p:txBody>
      </p:sp>
      <p:sp>
        <p:nvSpPr>
          <p:cNvPr id="8" name="Text 5"/>
          <p:cNvSpPr txBox="1"/>
          <p:nvPr/>
        </p:nvSpPr>
        <p:spPr>
          <a:xfrm>
            <a:off x="9326880" y="1755648"/>
            <a:ext cx="2286000" cy="713232"/>
          </a:xfrm>
          <a:prstGeom prst="rect">
            <a:avLst/>
          </a:prstGeom>
          <a:noFill/>
          <a:ln/>
        </p:spPr>
        <p:txBody>
          <a:bodyPr wrap="square" lIns="0" tIns="0" rIns="0" bIns="0" rtlCol="0" anchor="b"/>
          <a:lstStyle/>
          <a:p>
            <a:pPr marL="0" indent="0">
              <a:buNone/>
            </a:pPr>
            <a:r>
              <a:rPr lang="en-US" sz="4600" b="1" dirty="0">
                <a:solidFill>
                  <a:srgbClr val="6B1F37"/>
                </a:solidFill>
              </a:rPr>
              <a:t>4</a:t>
            </a:r>
            <a:endParaRPr lang="en-US" sz="4600" dirty="0"/>
          </a:p>
        </p:txBody>
      </p:sp>
      <p:sp>
        <p:nvSpPr>
          <p:cNvPr id="9" name="Text 6"/>
          <p:cNvSpPr txBox="1"/>
          <p:nvPr/>
        </p:nvSpPr>
        <p:spPr>
          <a:xfrm>
            <a:off x="9326880" y="2505456"/>
            <a:ext cx="2286000" cy="685800"/>
          </a:xfrm>
          <a:prstGeom prst="rect">
            <a:avLst/>
          </a:prstGeom>
          <a:noFill/>
          <a:ln/>
        </p:spPr>
        <p:txBody>
          <a:bodyPr wrap="square" lIns="0" tIns="0" rIns="0" bIns="0" rtlCol="0" anchor="t"/>
          <a:lstStyle/>
          <a:p>
            <a:pPr marL="0" indent="0">
              <a:lnSpc>
                <a:spcPct val="105000"/>
              </a:lnSpc>
              <a:buNone/>
            </a:pPr>
            <a:r>
              <a:rPr lang="en-US" sz="1200" dirty="0">
                <a:solidFill>
                  <a:srgbClr val="5F6772"/>
                </a:solidFill>
              </a:rPr>
              <a:t>instruments, two independent data providers</a:t>
            </a:r>
            <a:endParaRPr lang="en-US" sz="1200" dirty="0"/>
          </a:p>
        </p:txBody>
      </p:sp>
      <p:sp>
        <p:nvSpPr>
          <p:cNvPr id="10" name="callout-card"/>
          <p:cNvSpPr/>
          <p:nvPr/>
        </p:nvSpPr>
        <p:spPr>
          <a:xfrm>
            <a:off x="6583680" y="4672584"/>
            <a:ext cx="5074920" cy="160020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11" name="callout-rule"/>
          <p:cNvSpPr/>
          <p:nvPr/>
        </p:nvSpPr>
        <p:spPr>
          <a:xfrm>
            <a:off x="6583680" y="4672584"/>
            <a:ext cx="41148" cy="1600200"/>
          </a:xfrm>
          <a:prstGeom prst="rect">
            <a:avLst/>
          </a:prstGeom>
          <a:solidFill>
            <a:srgbClr val="6B1F37"/>
          </a:solidFill>
          <a:ln w="12700">
            <a:solidFill>
              <a:srgbClr val="333333"/>
            </a:solidFill>
            <a:prstDash val="solid"/>
          </a:ln>
        </p:spPr>
        <p:txBody>
          <a:bodyPr/>
          <a:lstStyle/>
          <a:p>
            <a:endParaRPr lang="en-US"/>
          </a:p>
        </p:txBody>
      </p:sp>
      <p:sp>
        <p:nvSpPr>
          <p:cNvPr id="12" name="Text 9"/>
          <p:cNvSpPr txBox="1"/>
          <p:nvPr/>
        </p:nvSpPr>
        <p:spPr>
          <a:xfrm>
            <a:off x="6858000" y="4764024"/>
            <a:ext cx="4572000" cy="141732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This is kilobytes, not terabytes. The engineering problem is not volume — it is knowing whether a number is correct.</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THE PROBLEM</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How this is actually done today</a:t>
            </a:r>
            <a:endParaRPr lang="en-US" sz="3200" dirty="0"/>
          </a:p>
        </p:txBody>
      </p:sp>
      <p:sp>
        <p:nvSpPr>
          <p:cNvPr id="5" name="Text 2"/>
          <p:cNvSpPr txBox="1"/>
          <p:nvPr/>
        </p:nvSpPr>
        <p:spPr>
          <a:xfrm>
            <a:off x="566928" y="1572768"/>
            <a:ext cx="10789920" cy="2926080"/>
          </a:xfrm>
          <a:prstGeom prst="rect">
            <a:avLst/>
          </a:prstGeom>
          <a:noFill/>
          <a:ln/>
        </p:spPr>
        <p:txBody>
          <a:bodyPr wrap="square" lIns="0" tIns="0" rIns="0" bIns="0" rtlCol="0" anchor="t"/>
          <a:lstStyle/>
          <a:p>
            <a:pPr marL="342900" indent="-342900">
              <a:lnSpc>
                <a:spcPct val="108000"/>
              </a:lnSpc>
              <a:spcAft>
                <a:spcPts val="300"/>
              </a:spcAft>
              <a:buSzPct val="100000"/>
              <a:buChar char="●"/>
            </a:pPr>
            <a:r>
              <a:rPr lang="en-US" sz="1900" b="1" dirty="0">
                <a:solidFill>
                  <a:srgbClr val="1C1F24"/>
                </a:solidFill>
              </a:rPr>
              <a:t>Static rules</a:t>
            </a:r>
            <a:endParaRPr lang="en-US" sz="1900" dirty="0"/>
          </a:p>
          <a:p>
            <a:pPr marL="0" lvl="1" indent="0">
              <a:lnSpc>
                <a:spcPct val="108000"/>
              </a:lnSpc>
              <a:spcAft>
                <a:spcPts val="1800"/>
              </a:spcAft>
              <a:buNone/>
            </a:pPr>
            <a:r>
              <a:rPr lang="en-US" sz="1600" dirty="0">
                <a:solidFill>
                  <a:srgbClr val="5F6772"/>
                </a:solidFill>
              </a:rPr>
              <a:t>“Reject if it moved more than 5% from yesterday.” Cheap, and wrong in both directions.</a:t>
            </a:r>
            <a:endParaRPr lang="en-US" sz="1900" dirty="0"/>
          </a:p>
          <a:p>
            <a:pPr marL="342900" indent="-342900">
              <a:lnSpc>
                <a:spcPct val="108000"/>
              </a:lnSpc>
              <a:spcAft>
                <a:spcPts val="300"/>
              </a:spcAft>
              <a:buSzPct val="100000"/>
              <a:buChar char="●"/>
            </a:pPr>
            <a:r>
              <a:rPr lang="en-US" sz="1900" b="1" dirty="0">
                <a:solidFill>
                  <a:srgbClr val="1C1F24"/>
                </a:solidFill>
              </a:rPr>
              <a:t>Human review</a:t>
            </a:r>
            <a:endParaRPr lang="en-US" sz="1900" dirty="0"/>
          </a:p>
          <a:p>
            <a:pPr marL="0" lvl="1" indent="0">
              <a:lnSpc>
                <a:spcPct val="108000"/>
              </a:lnSpc>
              <a:spcAft>
                <a:spcPts val="1800"/>
              </a:spcAft>
              <a:buNone/>
            </a:pPr>
            <a:r>
              <a:rPr lang="en-US" sz="1600" dirty="0">
                <a:solidFill>
                  <a:srgbClr val="5F6772"/>
                </a:solidFill>
              </a:rPr>
              <a:t>Someone scans a spreadsheet each morning. Does not scale, and does not run at 2am.</a:t>
            </a:r>
            <a:endParaRPr lang="en-US" sz="1900" dirty="0"/>
          </a:p>
          <a:p>
            <a:pPr marL="342900" indent="-342900">
              <a:lnSpc>
                <a:spcPct val="108000"/>
              </a:lnSpc>
              <a:spcAft>
                <a:spcPts val="300"/>
              </a:spcAft>
              <a:buSzPct val="100000"/>
              <a:buChar char="●"/>
            </a:pPr>
            <a:r>
              <a:rPr lang="en-US" sz="1900" b="1" dirty="0">
                <a:solidFill>
                  <a:srgbClr val="1C1F24"/>
                </a:solidFill>
              </a:rPr>
              <a:t>Post-hoc reconciliation</a:t>
            </a:r>
            <a:endParaRPr lang="en-US" sz="1900" dirty="0"/>
          </a:p>
          <a:p>
            <a:pPr marL="0" lvl="1" indent="0">
              <a:lnSpc>
                <a:spcPct val="108000"/>
              </a:lnSpc>
              <a:buNone/>
            </a:pPr>
            <a:r>
              <a:rPr lang="en-US" sz="1600" dirty="0">
                <a:solidFill>
                  <a:srgbClr val="5F6772"/>
                </a:solidFill>
              </a:rPr>
              <a:t>You find out on Thursday that Tuesday was wrong.</a:t>
            </a:r>
            <a:endParaRPr lang="en-US" sz="1900" dirty="0"/>
          </a:p>
        </p:txBody>
      </p:sp>
      <p:sp>
        <p:nvSpPr>
          <p:cNvPr id="6" name="callout-card"/>
          <p:cNvSpPr/>
          <p:nvPr/>
        </p:nvSpPr>
        <p:spPr>
          <a:xfrm>
            <a:off x="566928" y="4855464"/>
            <a:ext cx="10789920" cy="141732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7" name="callout-rule"/>
          <p:cNvSpPr/>
          <p:nvPr/>
        </p:nvSpPr>
        <p:spPr>
          <a:xfrm>
            <a:off x="566928" y="4855464"/>
            <a:ext cx="41148" cy="1417320"/>
          </a:xfrm>
          <a:prstGeom prst="rect">
            <a:avLst/>
          </a:prstGeom>
          <a:solidFill>
            <a:srgbClr val="8A5A10"/>
          </a:solidFill>
          <a:ln w="12700">
            <a:solidFill>
              <a:srgbClr val="333333"/>
            </a:solidFill>
            <a:prstDash val="solid"/>
          </a:ln>
        </p:spPr>
        <p:txBody>
          <a:bodyPr/>
          <a:lstStyle/>
          <a:p>
            <a:endParaRPr lang="en-US"/>
          </a:p>
        </p:txBody>
      </p:sp>
      <p:sp>
        <p:nvSpPr>
          <p:cNvPr id="8" name="Text 5"/>
          <p:cNvSpPr txBox="1"/>
          <p:nvPr/>
        </p:nvSpPr>
        <p:spPr>
          <a:xfrm>
            <a:off x="841248" y="4946904"/>
            <a:ext cx="10287000" cy="123444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A 5% threshold cannot distinguish a bad feed from a currency crisis. In March 2020 the correct answer was “yes, the market really moved that much”.</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ARCHITECTURE</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What I built</a:t>
            </a:r>
            <a:endParaRPr lang="en-US" sz="3200" dirty="0"/>
          </a:p>
        </p:txBody>
      </p:sp>
      <p:pic>
        <p:nvPicPr>
          <p:cNvPr id="5" name="architecture" descr="figs/architecture.png"/>
          <p:cNvPicPr>
            <a:picLocks noChangeAspect="1"/>
          </p:cNvPicPr>
          <p:nvPr/>
        </p:nvPicPr>
        <p:blipFill>
          <a:blip r:embed="rId3"/>
          <a:stretch>
            <a:fillRect/>
          </a:stretch>
        </p:blipFill>
        <p:spPr>
          <a:xfrm>
            <a:off x="2447972" y="1481328"/>
            <a:ext cx="7295751" cy="4105656"/>
          </a:xfrm>
          <a:prstGeom prst="rect">
            <a:avLst/>
          </a:prstGeom>
        </p:spPr>
      </p:pic>
      <p:sp>
        <p:nvSpPr>
          <p:cNvPr id="6" name="Text 2"/>
          <p:cNvSpPr txBox="1"/>
          <p:nvPr/>
        </p:nvSpPr>
        <p:spPr>
          <a:xfrm>
            <a:off x="566928" y="5705856"/>
            <a:ext cx="11057839" cy="457200"/>
          </a:xfrm>
          <a:prstGeom prst="rect">
            <a:avLst/>
          </a:prstGeom>
          <a:noFill/>
          <a:ln/>
        </p:spPr>
        <p:txBody>
          <a:bodyPr wrap="square" lIns="0" tIns="0" rIns="0" bIns="0" rtlCol="0" anchor="ctr"/>
          <a:lstStyle/>
          <a:p>
            <a:pPr marL="0" indent="0" algn="ctr">
              <a:buNone/>
            </a:pPr>
            <a:r>
              <a:rPr lang="en-US" sz="1150" dirty="0">
                <a:solidFill>
                  <a:srgbClr val="5F6772"/>
                </a:solidFill>
              </a:rPr>
              <a:t>Seven services — Spring Boot for orchestration, Python FastAPI for the models, React for the interface, Kafka carrying clean rates in and alerts out, PostgreSQL underneath.</a:t>
            </a:r>
            <a:endParaRPr lang="en-US" sz="11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THE PIPELINE</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Ingestion, end to end</a:t>
            </a:r>
            <a:endParaRPr lang="en-US" sz="3200" dirty="0"/>
          </a:p>
        </p:txBody>
      </p:sp>
      <p:sp>
        <p:nvSpPr>
          <p:cNvPr id="5" name="stage-0"/>
          <p:cNvSpPr/>
          <p:nvPr/>
        </p:nvSpPr>
        <p:spPr>
          <a:xfrm>
            <a:off x="566928" y="1984248"/>
            <a:ext cx="1992112" cy="1828800"/>
          </a:xfrm>
          <a:prstGeom prst="roundRect">
            <a:avLst>
              <a:gd name="adj" fmla="val 3500"/>
            </a:avLst>
          </a:prstGeom>
          <a:solidFill>
            <a:srgbClr val="FFFFFF"/>
          </a:solidFill>
          <a:ln w="9525">
            <a:solidFill>
              <a:srgbClr val="E2DDD6"/>
            </a:solidFill>
            <a:prstDash val="solid"/>
          </a:ln>
        </p:spPr>
        <p:txBody>
          <a:bodyPr/>
          <a:lstStyle/>
          <a:p>
            <a:endParaRPr lang="en-US"/>
          </a:p>
        </p:txBody>
      </p:sp>
      <p:sp>
        <p:nvSpPr>
          <p:cNvPr id="6" name="Text 3"/>
          <p:cNvSpPr txBox="1"/>
          <p:nvPr/>
        </p:nvSpPr>
        <p:spPr>
          <a:xfrm>
            <a:off x="694944" y="2093976"/>
            <a:ext cx="1736080" cy="160934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Amazon S3</a:t>
            </a:r>
            <a:endParaRPr lang="en-US" sz="1300" dirty="0"/>
          </a:p>
          <a:p>
            <a:pPr marL="0" indent="0">
              <a:lnSpc>
                <a:spcPct val="105000"/>
              </a:lnSpc>
              <a:buNone/>
            </a:pPr>
            <a:r>
              <a:rPr lang="en-US" sz="1050" dirty="0">
                <a:solidFill>
                  <a:srgbClr val="5F6772"/>
                </a:solidFill>
              </a:rPr>
              <a:t>Raw CSV, one file per instrument. Immutable.</a:t>
            </a:r>
            <a:endParaRPr lang="en-US" sz="1300" dirty="0"/>
          </a:p>
        </p:txBody>
      </p:sp>
      <p:sp>
        <p:nvSpPr>
          <p:cNvPr id="7" name="Text 4"/>
          <p:cNvSpPr txBox="1"/>
          <p:nvPr/>
        </p:nvSpPr>
        <p:spPr>
          <a:xfrm>
            <a:off x="2559040" y="274320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8" name="stage-1"/>
          <p:cNvSpPr/>
          <p:nvPr/>
        </p:nvSpPr>
        <p:spPr>
          <a:xfrm>
            <a:off x="2833360" y="1984248"/>
            <a:ext cx="1992112" cy="1828800"/>
          </a:xfrm>
          <a:prstGeom prst="roundRect">
            <a:avLst>
              <a:gd name="adj" fmla="val 3500"/>
            </a:avLst>
          </a:prstGeom>
          <a:solidFill>
            <a:srgbClr val="F0E4E8"/>
          </a:solidFill>
          <a:ln w="15875">
            <a:solidFill>
              <a:srgbClr val="6B1F37"/>
            </a:solidFill>
            <a:prstDash val="solid"/>
          </a:ln>
        </p:spPr>
        <p:txBody>
          <a:bodyPr/>
          <a:lstStyle/>
          <a:p>
            <a:endParaRPr lang="en-US"/>
          </a:p>
        </p:txBody>
      </p:sp>
      <p:sp>
        <p:nvSpPr>
          <p:cNvPr id="9" name="Text 6"/>
          <p:cNvSpPr txBox="1"/>
          <p:nvPr/>
        </p:nvSpPr>
        <p:spPr>
          <a:xfrm>
            <a:off x="2961376" y="2093976"/>
            <a:ext cx="1736080" cy="160934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Python preprocessing</a:t>
            </a:r>
            <a:endParaRPr lang="en-US" sz="1300" dirty="0"/>
          </a:p>
          <a:p>
            <a:pPr marL="0" indent="0">
              <a:lnSpc>
                <a:spcPct val="105000"/>
              </a:lnSpc>
              <a:buNone/>
            </a:pPr>
            <a:r>
              <a:rPr lang="en-US" sz="1050" dirty="0">
                <a:solidFill>
                  <a:srgbClr val="5F6772"/>
                </a:solidFill>
              </a:rPr>
              <a:t>Clean, remove outliers, compute features, normalise.</a:t>
            </a:r>
            <a:endParaRPr lang="en-US" sz="1300" dirty="0"/>
          </a:p>
        </p:txBody>
      </p:sp>
      <p:sp>
        <p:nvSpPr>
          <p:cNvPr id="10" name="Text 7"/>
          <p:cNvSpPr txBox="1"/>
          <p:nvPr/>
        </p:nvSpPr>
        <p:spPr>
          <a:xfrm>
            <a:off x="4825472" y="274320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11" name="stage-2"/>
          <p:cNvSpPr/>
          <p:nvPr/>
        </p:nvSpPr>
        <p:spPr>
          <a:xfrm>
            <a:off x="5099792" y="1984248"/>
            <a:ext cx="1992112" cy="1828800"/>
          </a:xfrm>
          <a:prstGeom prst="roundRect">
            <a:avLst>
              <a:gd name="adj" fmla="val 3500"/>
            </a:avLst>
          </a:prstGeom>
          <a:solidFill>
            <a:srgbClr val="FFFFFF"/>
          </a:solidFill>
          <a:ln w="9525">
            <a:solidFill>
              <a:srgbClr val="E2DDD6"/>
            </a:solidFill>
            <a:prstDash val="solid"/>
          </a:ln>
        </p:spPr>
        <p:txBody>
          <a:bodyPr/>
          <a:lstStyle/>
          <a:p>
            <a:endParaRPr lang="en-US"/>
          </a:p>
        </p:txBody>
      </p:sp>
      <p:sp>
        <p:nvSpPr>
          <p:cNvPr id="12" name="Text 9"/>
          <p:cNvSpPr txBox="1"/>
          <p:nvPr/>
        </p:nvSpPr>
        <p:spPr>
          <a:xfrm>
            <a:off x="5227808" y="2093976"/>
            <a:ext cx="1736080" cy="160934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Kafka topic</a:t>
            </a:r>
            <a:endParaRPr lang="en-US" sz="1300" dirty="0"/>
          </a:p>
          <a:p>
            <a:pPr marL="0" indent="0">
              <a:lnSpc>
                <a:spcPct val="105000"/>
              </a:lnSpc>
              <a:buNone/>
            </a:pPr>
            <a:r>
              <a:rPr lang="en-US" sz="1050" dirty="0">
                <a:solidFill>
                  <a:srgbClr val="5F6772"/>
                </a:solidFill>
              </a:rPr>
              <a:t>market.rates.clean</a:t>
            </a:r>
            <a:endParaRPr lang="en-US" sz="1300" dirty="0"/>
          </a:p>
        </p:txBody>
      </p:sp>
      <p:sp>
        <p:nvSpPr>
          <p:cNvPr id="13" name="Text 10"/>
          <p:cNvSpPr txBox="1"/>
          <p:nvPr/>
        </p:nvSpPr>
        <p:spPr>
          <a:xfrm>
            <a:off x="7091904" y="274320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14" name="stage-3"/>
          <p:cNvSpPr/>
          <p:nvPr/>
        </p:nvSpPr>
        <p:spPr>
          <a:xfrm>
            <a:off x="7366224" y="1984248"/>
            <a:ext cx="1992112" cy="1828800"/>
          </a:xfrm>
          <a:prstGeom prst="roundRect">
            <a:avLst>
              <a:gd name="adj" fmla="val 3500"/>
            </a:avLst>
          </a:prstGeom>
          <a:solidFill>
            <a:srgbClr val="FFFFFF"/>
          </a:solidFill>
          <a:ln w="9525">
            <a:solidFill>
              <a:srgbClr val="E2DDD6"/>
            </a:solidFill>
            <a:prstDash val="solid"/>
          </a:ln>
        </p:spPr>
        <p:txBody>
          <a:bodyPr/>
          <a:lstStyle/>
          <a:p>
            <a:endParaRPr lang="en-US"/>
          </a:p>
        </p:txBody>
      </p:sp>
      <p:sp>
        <p:nvSpPr>
          <p:cNvPr id="15" name="Text 12"/>
          <p:cNvSpPr txBox="1"/>
          <p:nvPr/>
        </p:nvSpPr>
        <p:spPr>
          <a:xfrm>
            <a:off x="7494240" y="2093976"/>
            <a:ext cx="1736080" cy="160934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Spring Boot consumer</a:t>
            </a:r>
            <a:endParaRPr lang="en-US" sz="1300" dirty="0"/>
          </a:p>
          <a:p>
            <a:pPr marL="0" indent="0">
              <a:lnSpc>
                <a:spcPct val="105000"/>
              </a:lnSpc>
              <a:buNone/>
            </a:pPr>
            <a:r>
              <a:rPr lang="en-US" sz="1050" dirty="0">
                <a:solidFill>
                  <a:srgbClr val="5F6772"/>
                </a:solidFill>
              </a:rPr>
              <a:t>Validates, persists, orchestrates inference.</a:t>
            </a:r>
            <a:endParaRPr lang="en-US" sz="1300" dirty="0"/>
          </a:p>
        </p:txBody>
      </p:sp>
      <p:sp>
        <p:nvSpPr>
          <p:cNvPr id="16" name="Text 13"/>
          <p:cNvSpPr txBox="1"/>
          <p:nvPr/>
        </p:nvSpPr>
        <p:spPr>
          <a:xfrm>
            <a:off x="9358335" y="274320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17" name="stage-4"/>
          <p:cNvSpPr/>
          <p:nvPr/>
        </p:nvSpPr>
        <p:spPr>
          <a:xfrm>
            <a:off x="9632655" y="1984248"/>
            <a:ext cx="1992112" cy="1828800"/>
          </a:xfrm>
          <a:prstGeom prst="roundRect">
            <a:avLst>
              <a:gd name="adj" fmla="val 3500"/>
            </a:avLst>
          </a:prstGeom>
          <a:solidFill>
            <a:srgbClr val="FFFFFF"/>
          </a:solidFill>
          <a:ln w="9525">
            <a:solidFill>
              <a:srgbClr val="E2DDD6"/>
            </a:solidFill>
            <a:prstDash val="solid"/>
          </a:ln>
        </p:spPr>
        <p:txBody>
          <a:bodyPr/>
          <a:lstStyle/>
          <a:p>
            <a:endParaRPr lang="en-US"/>
          </a:p>
        </p:txBody>
      </p:sp>
      <p:sp>
        <p:nvSpPr>
          <p:cNvPr id="18" name="Text 15"/>
          <p:cNvSpPr txBox="1"/>
          <p:nvPr/>
        </p:nvSpPr>
        <p:spPr>
          <a:xfrm>
            <a:off x="9760671" y="2093976"/>
            <a:ext cx="1736080" cy="160934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PostgreSQL</a:t>
            </a:r>
            <a:endParaRPr lang="en-US" sz="1300" dirty="0"/>
          </a:p>
          <a:p>
            <a:pPr marL="0" indent="0">
              <a:lnSpc>
                <a:spcPct val="105000"/>
              </a:lnSpc>
              <a:buNone/>
            </a:pPr>
            <a:r>
              <a:rPr lang="en-US" sz="1050" dirty="0">
                <a:solidFill>
                  <a:srgbClr val="5F6772"/>
                </a:solidFill>
              </a:rPr>
              <a:t>Clean rates, alerts, model run history.</a:t>
            </a:r>
            <a:endParaRPr lang="en-US" sz="1300" dirty="0"/>
          </a:p>
        </p:txBody>
      </p:sp>
      <p:sp>
        <p:nvSpPr>
          <p:cNvPr id="19" name="callout-card"/>
          <p:cNvSpPr/>
          <p:nvPr/>
        </p:nvSpPr>
        <p:spPr>
          <a:xfrm>
            <a:off x="566928" y="4901184"/>
            <a:ext cx="8961120" cy="137160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20" name="callout-rule"/>
          <p:cNvSpPr/>
          <p:nvPr/>
        </p:nvSpPr>
        <p:spPr>
          <a:xfrm>
            <a:off x="566928" y="4901184"/>
            <a:ext cx="41148" cy="1371600"/>
          </a:xfrm>
          <a:prstGeom prst="rect">
            <a:avLst/>
          </a:prstGeom>
          <a:solidFill>
            <a:srgbClr val="6B1F37"/>
          </a:solidFill>
          <a:ln w="12700">
            <a:solidFill>
              <a:srgbClr val="333333"/>
            </a:solidFill>
            <a:prstDash val="solid"/>
          </a:ln>
        </p:spPr>
        <p:txBody>
          <a:bodyPr/>
          <a:lstStyle/>
          <a:p>
            <a:endParaRPr lang="en-US"/>
          </a:p>
        </p:txBody>
      </p:sp>
      <p:sp>
        <p:nvSpPr>
          <p:cNvPr id="21" name="Text 18"/>
          <p:cNvSpPr txBox="1"/>
          <p:nvPr/>
        </p:nvSpPr>
        <p:spPr>
          <a:xfrm>
            <a:off x="841248" y="4992624"/>
            <a:ext cx="8458200" cy="118872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Raw data is never modified in place. Every derived value is computed once, in one service, and published on the record.</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THE PIPELINE</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Why an event bus, and not just an API call?</a:t>
            </a:r>
            <a:endParaRPr lang="en-US" sz="3200" dirty="0"/>
          </a:p>
        </p:txBody>
      </p:sp>
      <p:sp>
        <p:nvSpPr>
          <p:cNvPr id="5" name="Text 2"/>
          <p:cNvSpPr txBox="1"/>
          <p:nvPr/>
        </p:nvSpPr>
        <p:spPr>
          <a:xfrm>
            <a:off x="566928" y="1572768"/>
            <a:ext cx="5120640" cy="411480"/>
          </a:xfrm>
          <a:prstGeom prst="rect">
            <a:avLst/>
          </a:prstGeom>
          <a:noFill/>
          <a:ln/>
        </p:spPr>
        <p:txBody>
          <a:bodyPr wrap="square" lIns="0" tIns="0" rIns="0" bIns="0" rtlCol="0" anchor="ctr"/>
          <a:lstStyle/>
          <a:p>
            <a:pPr marL="0" indent="0">
              <a:buNone/>
            </a:pPr>
            <a:r>
              <a:rPr lang="en-US" sz="2000" b="1" dirty="0">
                <a:solidFill>
                  <a:srgbClr val="6B1F37"/>
                </a:solidFill>
              </a:rPr>
              <a:t>A topic is an append-only log</a:t>
            </a:r>
            <a:endParaRPr lang="en-US" sz="2000" dirty="0"/>
          </a:p>
        </p:txBody>
      </p:sp>
      <p:sp>
        <p:nvSpPr>
          <p:cNvPr id="6" name="Text 3"/>
          <p:cNvSpPr txBox="1"/>
          <p:nvPr/>
        </p:nvSpPr>
        <p:spPr>
          <a:xfrm>
            <a:off x="566928" y="2139696"/>
            <a:ext cx="5120640" cy="2103120"/>
          </a:xfrm>
          <a:prstGeom prst="rect">
            <a:avLst/>
          </a:prstGeom>
          <a:noFill/>
          <a:ln/>
        </p:spPr>
        <p:txBody>
          <a:bodyPr wrap="square" lIns="0" tIns="0" rIns="0" bIns="0" rtlCol="0" anchor="t"/>
          <a:lstStyle/>
          <a:p>
            <a:pPr marL="342900" indent="-342900">
              <a:lnSpc>
                <a:spcPct val="108000"/>
              </a:lnSpc>
              <a:spcAft>
                <a:spcPts val="300"/>
              </a:spcAft>
              <a:buSzPct val="100000"/>
              <a:buChar char="●"/>
            </a:pPr>
            <a:r>
              <a:rPr lang="en-US" sz="1700" b="1" dirty="0">
                <a:solidFill>
                  <a:srgbClr val="1C1F24"/>
                </a:solidFill>
              </a:rPr>
              <a:t>Producers write to it</a:t>
            </a:r>
            <a:endParaRPr lang="en-US" sz="1700" dirty="0"/>
          </a:p>
          <a:p>
            <a:pPr marL="0" lvl="1" indent="0">
              <a:lnSpc>
                <a:spcPct val="108000"/>
              </a:lnSpc>
              <a:spcAft>
                <a:spcPts val="1800"/>
              </a:spcAft>
              <a:buNone/>
            </a:pPr>
            <a:r>
              <a:rPr lang="en-US" sz="1400" dirty="0">
                <a:solidFill>
                  <a:srgbClr val="5F6772"/>
                </a:solidFill>
              </a:rPr>
              <a:t>Consumers read from it at their own pace.</a:t>
            </a:r>
            <a:endParaRPr lang="en-US" sz="1700" dirty="0"/>
          </a:p>
          <a:p>
            <a:pPr marL="342900" indent="-342900">
              <a:lnSpc>
                <a:spcPct val="108000"/>
              </a:lnSpc>
              <a:spcAft>
                <a:spcPts val="1400"/>
              </a:spcAft>
              <a:buSzPct val="100000"/>
              <a:buChar char="●"/>
            </a:pPr>
            <a:r>
              <a:rPr lang="en-US" sz="1700" b="1" dirty="0">
                <a:solidFill>
                  <a:srgbClr val="1C1F24"/>
                </a:solidFill>
              </a:rPr>
              <a:t>Neither knows the other exists</a:t>
            </a:r>
            <a:endParaRPr lang="en-US" sz="1700" dirty="0"/>
          </a:p>
        </p:txBody>
      </p:sp>
      <p:sp>
        <p:nvSpPr>
          <p:cNvPr id="7" name="Text 4"/>
          <p:cNvSpPr txBox="1"/>
          <p:nvPr/>
        </p:nvSpPr>
        <p:spPr>
          <a:xfrm>
            <a:off x="6400800" y="1572768"/>
            <a:ext cx="5257800" cy="411480"/>
          </a:xfrm>
          <a:prstGeom prst="rect">
            <a:avLst/>
          </a:prstGeom>
          <a:noFill/>
          <a:ln/>
        </p:spPr>
        <p:txBody>
          <a:bodyPr wrap="square" lIns="0" tIns="0" rIns="0" bIns="0" rtlCol="0" anchor="ctr"/>
          <a:lstStyle/>
          <a:p>
            <a:pPr marL="0" indent="0">
              <a:buNone/>
            </a:pPr>
            <a:r>
              <a:rPr lang="en-US" sz="2000" b="1" dirty="0">
                <a:solidFill>
                  <a:srgbClr val="6B1F37"/>
                </a:solidFill>
              </a:rPr>
              <a:t>What that buys you</a:t>
            </a:r>
            <a:endParaRPr lang="en-US" sz="2000" dirty="0"/>
          </a:p>
        </p:txBody>
      </p:sp>
      <p:sp>
        <p:nvSpPr>
          <p:cNvPr id="8" name="Text 5"/>
          <p:cNvSpPr txBox="1"/>
          <p:nvPr/>
        </p:nvSpPr>
        <p:spPr>
          <a:xfrm>
            <a:off x="6400800" y="2139696"/>
            <a:ext cx="5257800" cy="3931920"/>
          </a:xfrm>
          <a:prstGeom prst="rect">
            <a:avLst/>
          </a:prstGeom>
          <a:noFill/>
          <a:ln/>
        </p:spPr>
        <p:txBody>
          <a:bodyPr wrap="square" lIns="0" tIns="0" rIns="0" bIns="0" rtlCol="0" anchor="t"/>
          <a:lstStyle/>
          <a:p>
            <a:pPr marL="342900" indent="-342900">
              <a:lnSpc>
                <a:spcPct val="108000"/>
              </a:lnSpc>
              <a:spcAft>
                <a:spcPts val="300"/>
              </a:spcAft>
              <a:buSzPct val="100000"/>
              <a:buChar char="●"/>
            </a:pPr>
            <a:r>
              <a:rPr lang="en-US" sz="1600" b="1" dirty="0">
                <a:solidFill>
                  <a:srgbClr val="1C1F24"/>
                </a:solidFill>
              </a:rPr>
              <a:t>Add a consumer without touching the producer</a:t>
            </a:r>
            <a:endParaRPr lang="en-US" sz="1600" dirty="0"/>
          </a:p>
          <a:p>
            <a:pPr marL="0" lvl="1" indent="0">
              <a:lnSpc>
                <a:spcPct val="108000"/>
              </a:lnSpc>
              <a:spcAft>
                <a:spcPts val="1800"/>
              </a:spcAft>
              <a:buNone/>
            </a:pPr>
            <a:r>
              <a:rPr lang="en-US" sz="1300" dirty="0">
                <a:solidFill>
                  <a:srgbClr val="5F6772"/>
                </a:solidFill>
              </a:rPr>
              <a:t>The alerting service was added last. The preprocessor never changed.</a:t>
            </a:r>
            <a:endParaRPr lang="en-US" sz="1600" dirty="0"/>
          </a:p>
          <a:p>
            <a:pPr marL="342900" indent="-342900">
              <a:lnSpc>
                <a:spcPct val="108000"/>
              </a:lnSpc>
              <a:spcAft>
                <a:spcPts val="300"/>
              </a:spcAft>
              <a:buSzPct val="100000"/>
              <a:buChar char="●"/>
            </a:pPr>
            <a:r>
              <a:rPr lang="en-US" sz="1600" b="1" dirty="0">
                <a:solidFill>
                  <a:srgbClr val="1C1F24"/>
                </a:solidFill>
              </a:rPr>
              <a:t>Consumers can fail independently</a:t>
            </a:r>
            <a:endParaRPr lang="en-US" sz="1600" dirty="0"/>
          </a:p>
          <a:p>
            <a:pPr marL="0" lvl="1" indent="0">
              <a:lnSpc>
                <a:spcPct val="108000"/>
              </a:lnSpc>
              <a:spcAft>
                <a:spcPts val="1800"/>
              </a:spcAft>
              <a:buNone/>
            </a:pPr>
            <a:r>
              <a:rPr lang="en-US" sz="1300" dirty="0">
                <a:solidFill>
                  <a:srgbClr val="5F6772"/>
                </a:solidFill>
              </a:rPr>
              <a:t>If the database is down, messages wait. Nothing is lost.</a:t>
            </a:r>
            <a:endParaRPr lang="en-US" sz="1600" dirty="0"/>
          </a:p>
          <a:p>
            <a:pPr marL="342900" indent="-342900">
              <a:lnSpc>
                <a:spcPct val="108000"/>
              </a:lnSpc>
              <a:spcAft>
                <a:spcPts val="300"/>
              </a:spcAft>
              <a:buSzPct val="100000"/>
              <a:buChar char="●"/>
            </a:pPr>
            <a:r>
              <a:rPr lang="en-US" sz="1600" b="1" dirty="0">
                <a:solidFill>
                  <a:srgbClr val="1C1F24"/>
                </a:solidFill>
              </a:rPr>
              <a:t>You can replay</a:t>
            </a:r>
            <a:endParaRPr lang="en-US" sz="1600" dirty="0"/>
          </a:p>
          <a:p>
            <a:pPr marL="0" lvl="1" indent="0">
              <a:lnSpc>
                <a:spcPct val="108000"/>
              </a:lnSpc>
              <a:buNone/>
            </a:pPr>
            <a:r>
              <a:rPr lang="en-US" sz="1300" dirty="0">
                <a:solidFill>
                  <a:srgbClr val="5F6772"/>
                </a:solidFill>
              </a:rPr>
              <a:t>Rebuild a downstream store by reading the log again.</a:t>
            </a:r>
            <a:endParaRPr lang="en-US" sz="16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THE PIPELINE</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One service computes features. Once.</a:t>
            </a:r>
            <a:endParaRPr lang="en-US" sz="3200" dirty="0"/>
          </a:p>
        </p:txBody>
      </p:sp>
      <p:pic>
        <p:nvPicPr>
          <p:cNvPr id="5" name="features" descr="figs/feature_engineering.png"/>
          <p:cNvPicPr>
            <a:picLocks noChangeAspect="1"/>
          </p:cNvPicPr>
          <p:nvPr/>
        </p:nvPicPr>
        <p:blipFill>
          <a:blip r:embed="rId3"/>
          <a:stretch>
            <a:fillRect/>
          </a:stretch>
        </p:blipFill>
        <p:spPr>
          <a:xfrm>
            <a:off x="813816" y="1481328"/>
            <a:ext cx="7187184" cy="4791456"/>
          </a:xfrm>
          <a:prstGeom prst="rect">
            <a:avLst/>
          </a:prstGeom>
        </p:spPr>
      </p:pic>
      <p:sp>
        <p:nvSpPr>
          <p:cNvPr id="6" name="Text 2"/>
          <p:cNvSpPr txBox="1"/>
          <p:nvPr/>
        </p:nvSpPr>
        <p:spPr>
          <a:xfrm>
            <a:off x="8503920" y="1618488"/>
            <a:ext cx="3154680" cy="2377440"/>
          </a:xfrm>
          <a:prstGeom prst="rect">
            <a:avLst/>
          </a:prstGeom>
          <a:noFill/>
          <a:ln/>
        </p:spPr>
        <p:txBody>
          <a:bodyPr wrap="square" lIns="0" tIns="0" rIns="0" bIns="0" rtlCol="0" anchor="t"/>
          <a:lstStyle/>
          <a:p>
            <a:pPr marL="342900" indent="-342900">
              <a:lnSpc>
                <a:spcPct val="108000"/>
              </a:lnSpc>
              <a:spcAft>
                <a:spcPts val="300"/>
              </a:spcAft>
              <a:buSzPct val="100000"/>
              <a:buChar char="●"/>
            </a:pPr>
            <a:r>
              <a:rPr lang="en-US" sz="1400" b="1" dirty="0">
                <a:solidFill>
                  <a:srgbClr val="1C1F24"/>
                </a:solidFill>
              </a:rPr>
              <a:t>Four features</a:t>
            </a:r>
            <a:endParaRPr lang="en-US" sz="1400" dirty="0"/>
          </a:p>
          <a:p>
            <a:pPr marL="0" lvl="1" indent="0">
              <a:lnSpc>
                <a:spcPct val="108000"/>
              </a:lnSpc>
              <a:spcAft>
                <a:spcPts val="1800"/>
              </a:spcAft>
              <a:buNone/>
            </a:pPr>
            <a:r>
              <a:rPr lang="en-US" sz="1100" dirty="0">
                <a:solidFill>
                  <a:srgbClr val="5F6772"/>
                </a:solidFill>
              </a:rPr>
              <a:t>Yesterday’s rate, last week’s, a seven-day mean and a seven-day standard deviation.</a:t>
            </a:r>
            <a:endParaRPr lang="en-US" sz="1400" dirty="0"/>
          </a:p>
          <a:p>
            <a:pPr marL="342900" indent="-342900">
              <a:lnSpc>
                <a:spcPct val="108000"/>
              </a:lnSpc>
              <a:spcAft>
                <a:spcPts val="300"/>
              </a:spcAft>
              <a:buSzPct val="100000"/>
              <a:buChar char="●"/>
            </a:pPr>
            <a:r>
              <a:rPr lang="en-US" sz="1400" b="1" dirty="0">
                <a:solidFill>
                  <a:srgbClr val="1C1F24"/>
                </a:solidFill>
              </a:rPr>
              <a:t>Why seven days</a:t>
            </a:r>
            <a:endParaRPr lang="en-US" sz="1400" dirty="0"/>
          </a:p>
          <a:p>
            <a:pPr marL="0" lvl="1" indent="0">
              <a:lnSpc>
                <a:spcPct val="108000"/>
              </a:lnSpc>
              <a:buNone/>
            </a:pPr>
            <a:r>
              <a:rPr lang="en-US" sz="1100" dirty="0">
                <a:solidFill>
                  <a:srgbClr val="5F6772"/>
                </a:solidFill>
              </a:rPr>
              <a:t>A trading week plus a buffer. A choice, not a result — I did not tune it.</a:t>
            </a:r>
            <a:endParaRPr lang="en-US" sz="1400" dirty="0"/>
          </a:p>
        </p:txBody>
      </p:sp>
      <p:sp>
        <p:nvSpPr>
          <p:cNvPr id="7" name="callout-card"/>
          <p:cNvSpPr/>
          <p:nvPr/>
        </p:nvSpPr>
        <p:spPr>
          <a:xfrm>
            <a:off x="8503920" y="4087368"/>
            <a:ext cx="3154680" cy="210312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8" name="callout-rule"/>
          <p:cNvSpPr/>
          <p:nvPr/>
        </p:nvSpPr>
        <p:spPr>
          <a:xfrm>
            <a:off x="8503920" y="4087368"/>
            <a:ext cx="41148" cy="2103120"/>
          </a:xfrm>
          <a:prstGeom prst="rect">
            <a:avLst/>
          </a:prstGeom>
          <a:solidFill>
            <a:srgbClr val="6B1F37"/>
          </a:solidFill>
          <a:ln w="12700">
            <a:solidFill>
              <a:srgbClr val="333333"/>
            </a:solidFill>
            <a:prstDash val="solid"/>
          </a:ln>
        </p:spPr>
        <p:txBody>
          <a:bodyPr/>
          <a:lstStyle/>
          <a:p>
            <a:endParaRPr lang="en-US"/>
          </a:p>
        </p:txBody>
      </p:sp>
      <p:sp>
        <p:nvSpPr>
          <p:cNvPr id="9" name="Text 5"/>
          <p:cNvSpPr txBox="1"/>
          <p:nvPr/>
        </p:nvSpPr>
        <p:spPr>
          <a:xfrm>
            <a:off x="8778240" y="4178808"/>
            <a:ext cx="2651760" cy="192024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Computed once, in the preprocessing service, and stored on the record.</a:t>
            </a:r>
            <a:endParaRPr lang="en-US" sz="1500" dirty="0"/>
          </a:p>
          <a:p>
            <a:pPr marL="0" indent="0">
              <a:lnSpc>
                <a:spcPct val="106000"/>
              </a:lnSpc>
              <a:buNone/>
            </a:pPr>
            <a:endParaRPr lang="en-US" sz="1500" dirty="0"/>
          </a:p>
          <a:p>
            <a:pPr marL="0" indent="0">
              <a:lnSpc>
                <a:spcPct val="106000"/>
              </a:lnSpc>
              <a:buNone/>
            </a:pPr>
            <a:r>
              <a:rPr lang="en-US" sz="1150" dirty="0">
                <a:solidFill>
                  <a:srgbClr val="8B929C"/>
                </a:solidFill>
              </a:rPr>
              <a:t>So every model sees identical numbers, and one definition change propagates to all six.</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METHOD</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What do you do when there are no labels?</a:t>
            </a:r>
            <a:endParaRPr lang="en-US" sz="3200" dirty="0"/>
          </a:p>
        </p:txBody>
      </p:sp>
      <p:pic>
        <p:nvPicPr>
          <p:cNvPr id="5" name="semisup" descr="figs/semi_supervised.png"/>
          <p:cNvPicPr>
            <a:picLocks noChangeAspect="1"/>
          </p:cNvPicPr>
          <p:nvPr/>
        </p:nvPicPr>
        <p:blipFill>
          <a:blip r:embed="rId3"/>
          <a:stretch>
            <a:fillRect/>
          </a:stretch>
        </p:blipFill>
        <p:spPr>
          <a:xfrm>
            <a:off x="1072719" y="1481328"/>
            <a:ext cx="4566258" cy="4791456"/>
          </a:xfrm>
          <a:prstGeom prst="rect">
            <a:avLst/>
          </a:prstGeom>
        </p:spPr>
      </p:pic>
      <p:sp>
        <p:nvSpPr>
          <p:cNvPr id="6" name="Text 2"/>
          <p:cNvSpPr txBox="1"/>
          <p:nvPr/>
        </p:nvSpPr>
        <p:spPr>
          <a:xfrm>
            <a:off x="6492240" y="1664208"/>
            <a:ext cx="5166360" cy="2377440"/>
          </a:xfrm>
          <a:prstGeom prst="rect">
            <a:avLst/>
          </a:prstGeom>
          <a:noFill/>
          <a:ln/>
        </p:spPr>
        <p:txBody>
          <a:bodyPr wrap="square" lIns="0" tIns="0" rIns="0" bIns="0" rtlCol="0" anchor="t"/>
          <a:lstStyle/>
          <a:p>
            <a:pPr marL="342900" indent="-342900">
              <a:lnSpc>
                <a:spcPct val="108000"/>
              </a:lnSpc>
              <a:spcAft>
                <a:spcPts val="300"/>
              </a:spcAft>
              <a:buSzPct val="100000"/>
              <a:buChar char="●"/>
            </a:pPr>
            <a:r>
              <a:rPr lang="en-US" sz="1500" b="1" dirty="0">
                <a:solidFill>
                  <a:srgbClr val="1C1F24"/>
                </a:solidFill>
              </a:rPr>
              <a:t>Nobody hands you labelled anomalies</a:t>
            </a:r>
            <a:endParaRPr lang="en-US" sz="1500" dirty="0"/>
          </a:p>
          <a:p>
            <a:pPr marL="0" lvl="1" indent="0">
              <a:lnSpc>
                <a:spcPct val="108000"/>
              </a:lnSpc>
              <a:spcAft>
                <a:spcPts val="1800"/>
              </a:spcAft>
              <a:buNone/>
            </a:pPr>
            <a:r>
              <a:rPr lang="en-US" sz="1200" dirty="0">
                <a:solidFill>
                  <a:srgbClr val="5F6772"/>
                </a:solidFill>
              </a:rPr>
              <a:t>There is no column marked “this rate was wrong”. So the clustering stage manufactures one.</a:t>
            </a:r>
            <a:endParaRPr lang="en-US" sz="1500" dirty="0"/>
          </a:p>
          <a:p>
            <a:pPr marL="342900" indent="-342900">
              <a:lnSpc>
                <a:spcPct val="108000"/>
              </a:lnSpc>
              <a:spcAft>
                <a:spcPts val="300"/>
              </a:spcAft>
              <a:buSzPct val="100000"/>
              <a:buChar char="●"/>
            </a:pPr>
            <a:r>
              <a:rPr lang="en-US" sz="1500" b="1" dirty="0">
                <a:solidFill>
                  <a:srgbClr val="1C1F24"/>
                </a:solidFill>
              </a:rPr>
              <a:t>The classifier makes scoring cheap</a:t>
            </a:r>
            <a:endParaRPr lang="en-US" sz="1500" dirty="0"/>
          </a:p>
          <a:p>
            <a:pPr marL="0" lvl="1" indent="0">
              <a:lnSpc>
                <a:spcPct val="108000"/>
              </a:lnSpc>
              <a:buNone/>
            </a:pPr>
            <a:r>
              <a:rPr lang="en-US" sz="1200" dirty="0">
                <a:solidFill>
                  <a:srgbClr val="5F6772"/>
                </a:solidFill>
              </a:rPr>
              <a:t>Recomputing centroid distances needs the full history. A saved classifier does not.</a:t>
            </a:r>
            <a:endParaRPr lang="en-US" sz="1500" dirty="0"/>
          </a:p>
        </p:txBody>
      </p:sp>
      <p:sp>
        <p:nvSpPr>
          <p:cNvPr id="7" name="callout-card"/>
          <p:cNvSpPr/>
          <p:nvPr/>
        </p:nvSpPr>
        <p:spPr>
          <a:xfrm>
            <a:off x="6492240" y="4178808"/>
            <a:ext cx="5166360" cy="192024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8" name="callout-rule"/>
          <p:cNvSpPr/>
          <p:nvPr/>
        </p:nvSpPr>
        <p:spPr>
          <a:xfrm>
            <a:off x="6492240" y="4178808"/>
            <a:ext cx="41148" cy="1920240"/>
          </a:xfrm>
          <a:prstGeom prst="rect">
            <a:avLst/>
          </a:prstGeom>
          <a:solidFill>
            <a:srgbClr val="8A5A10"/>
          </a:solidFill>
          <a:ln w="12700">
            <a:solidFill>
              <a:srgbClr val="333333"/>
            </a:solidFill>
            <a:prstDash val="solid"/>
          </a:ln>
        </p:spPr>
        <p:txBody>
          <a:bodyPr/>
          <a:lstStyle/>
          <a:p>
            <a:endParaRPr lang="en-US"/>
          </a:p>
        </p:txBody>
      </p:sp>
      <p:sp>
        <p:nvSpPr>
          <p:cNvPr id="9" name="Text 5"/>
          <p:cNvSpPr txBox="1"/>
          <p:nvPr/>
        </p:nvSpPr>
        <p:spPr>
          <a:xfrm>
            <a:off x="6766560" y="4270248"/>
            <a:ext cx="4663440" cy="173736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But a model trained on another model’s output is not an independent opinion — and my escalation rule needs two votes of three.</a:t>
            </a:r>
            <a:endParaRPr lang="en-US" sz="1500" dirty="0"/>
          </a:p>
          <a:p>
            <a:pPr marL="0" indent="0">
              <a:lnSpc>
                <a:spcPct val="106000"/>
              </a:lnSpc>
              <a:buNone/>
            </a:pPr>
            <a:endParaRPr lang="en-US" sz="1500" dirty="0"/>
          </a:p>
          <a:p>
            <a:pPr marL="0" indent="0">
              <a:lnSpc>
                <a:spcPct val="106000"/>
              </a:lnSpc>
              <a:buNone/>
            </a:pPr>
            <a:r>
              <a:rPr lang="en-US" sz="1150" dirty="0">
                <a:solidFill>
                  <a:srgbClr val="8B929C"/>
                </a:solidFill>
              </a:rPr>
              <a:t>Hold that thought. The numbers are in part two.</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MLOPS</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Training and serving are different workloads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618488"/>
          <a:ext cx="10789920" cy="1630680"/>
        </p:xfrm>
        <a:graphic>
          <a:graphicData uri="http://schemas.openxmlformats.org/drawingml/2006/table">
            <a:tbl>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0">
                <a:tc>
                  <a:txBody>
                    <a:bodyPr/>
                    <a:lstStyle/>
                    <a:p>
                      <a:pPr marL="0" indent="0" algn="l">
                        <a:buNone/>
                      </a:pP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tc>
                  <a:txBody>
                    <a:bodyPr/>
                    <a:lstStyle/>
                    <a:p>
                      <a:pPr marL="0" indent="0" algn="l">
                        <a:buNone/>
                      </a:pPr>
                      <a:r>
                        <a:rPr lang="en-US" sz="1300" b="1" dirty="0">
                          <a:solidFill>
                            <a:srgbClr val="1C1F24"/>
                          </a:solidFill>
                          <a:latin typeface="Calibri" pitchFamily="34" charset="0"/>
                          <a:ea typeface="Calibri" pitchFamily="34" charset="-122"/>
                          <a:cs typeface="Calibri" pitchFamily="34" charset="-120"/>
                        </a:rPr>
                        <a:t>Training</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tc>
                  <a:txBody>
                    <a:bodyPr/>
                    <a:lstStyle/>
                    <a:p>
                      <a:pPr marL="0" indent="0" algn="l">
                        <a:buNone/>
                      </a:pPr>
                      <a:r>
                        <a:rPr lang="en-US" sz="1300" b="1" dirty="0">
                          <a:solidFill>
                            <a:srgbClr val="1C1F24"/>
                          </a:solidFill>
                          <a:latin typeface="Calibri" pitchFamily="34" charset="0"/>
                          <a:ea typeface="Calibri" pitchFamily="34" charset="-122"/>
                          <a:cs typeface="Calibri" pitchFamily="34" charset="-120"/>
                        </a:rPr>
                        <a:t>Serving</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r>
                        <a:rPr lang="en-US" sz="1350" b="1" dirty="0">
                          <a:solidFill>
                            <a:srgbClr val="1C1F24"/>
                          </a:solidFill>
                          <a:latin typeface="Calibri" pitchFamily="34" charset="0"/>
                          <a:ea typeface="Calibri" pitchFamily="34" charset="-122"/>
                          <a:cs typeface="Calibri" pitchFamily="34" charset="-120"/>
                        </a:rPr>
                        <a:t>When</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On new data arriving, or on demand</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Every request</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350" b="1" dirty="0">
                          <a:solidFill>
                            <a:srgbClr val="1C1F24"/>
                          </a:solidFill>
                          <a:latin typeface="Calibri" pitchFamily="34" charset="0"/>
                          <a:ea typeface="Calibri" pitchFamily="34" charset="-122"/>
                          <a:cs typeface="Calibri" pitchFamily="34" charset="-120"/>
                        </a:rPr>
                        <a:t>Cost</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Seconds to minutes, full history</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Must be milliseconds</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350" b="1" dirty="0">
                          <a:solidFill>
                            <a:srgbClr val="1C1F24"/>
                          </a:solidFill>
                          <a:latin typeface="Calibri" pitchFamily="34" charset="0"/>
                          <a:ea typeface="Calibri" pitchFamily="34" charset="-122"/>
                          <a:cs typeface="Calibri" pitchFamily="34" charset="-120"/>
                        </a:rPr>
                        <a:t>Output</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Artefact on disk plus a metadata file</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An answer</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350" b="1" dirty="0">
                          <a:solidFill>
                            <a:srgbClr val="1C1F24"/>
                          </a:solidFill>
                          <a:latin typeface="Calibri" pitchFamily="34" charset="0"/>
                          <a:ea typeface="Calibri" pitchFamily="34" charset="-122"/>
                          <a:cs typeface="Calibri" pitchFamily="34" charset="-120"/>
                        </a:rPr>
                        <a:t>Reads</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The database</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The artefact</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callout-card"/>
          <p:cNvSpPr/>
          <p:nvPr/>
        </p:nvSpPr>
        <p:spPr>
          <a:xfrm>
            <a:off x="566928" y="4809744"/>
            <a:ext cx="10789920" cy="146304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7" name="callout-rule"/>
          <p:cNvSpPr/>
          <p:nvPr/>
        </p:nvSpPr>
        <p:spPr>
          <a:xfrm>
            <a:off x="566928" y="4809744"/>
            <a:ext cx="41148" cy="1463040"/>
          </a:xfrm>
          <a:prstGeom prst="rect">
            <a:avLst/>
          </a:prstGeom>
          <a:solidFill>
            <a:srgbClr val="8A5A10"/>
          </a:solidFill>
          <a:ln w="12700">
            <a:solidFill>
              <a:srgbClr val="333333"/>
            </a:solidFill>
            <a:prstDash val="solid"/>
          </a:ln>
        </p:spPr>
        <p:txBody>
          <a:bodyPr/>
          <a:lstStyle/>
          <a:p>
            <a:endParaRPr lang="en-US"/>
          </a:p>
        </p:txBody>
      </p:sp>
      <p:sp>
        <p:nvSpPr>
          <p:cNvPr id="8" name="Text 4"/>
          <p:cNvSpPr txBox="1"/>
          <p:nvPr/>
        </p:nvSpPr>
        <p:spPr>
          <a:xfrm>
            <a:off x="841248" y="4901184"/>
            <a:ext cx="10287000" cy="128016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My first version retrained the model on every request. Thirty seconds to validate one number. If you take one thing from this slide: never train in a request handler.</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MLOPS</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The whole loop, on one page</a:t>
            </a:r>
            <a:endParaRPr lang="en-US" sz="3200" dirty="0"/>
          </a:p>
        </p:txBody>
      </p:sp>
      <p:pic>
        <p:nvPicPr>
          <p:cNvPr id="5" name="mlops" descr="figs/mlops_pipeline.png"/>
          <p:cNvPicPr>
            <a:picLocks noChangeAspect="1"/>
          </p:cNvPicPr>
          <p:nvPr/>
        </p:nvPicPr>
        <p:blipFill>
          <a:blip r:embed="rId3"/>
          <a:stretch>
            <a:fillRect/>
          </a:stretch>
        </p:blipFill>
        <p:spPr>
          <a:xfrm>
            <a:off x="630936" y="1481328"/>
            <a:ext cx="7187184" cy="4791456"/>
          </a:xfrm>
          <a:prstGeom prst="rect">
            <a:avLst/>
          </a:prstGeom>
        </p:spPr>
      </p:pic>
      <p:sp>
        <p:nvSpPr>
          <p:cNvPr id="6" name="callout-card"/>
          <p:cNvSpPr/>
          <p:nvPr/>
        </p:nvSpPr>
        <p:spPr>
          <a:xfrm>
            <a:off x="8229600" y="2761488"/>
            <a:ext cx="3429000" cy="237744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7" name="callout-rule"/>
          <p:cNvSpPr/>
          <p:nvPr/>
        </p:nvSpPr>
        <p:spPr>
          <a:xfrm>
            <a:off x="8229600" y="2761488"/>
            <a:ext cx="41148" cy="2377440"/>
          </a:xfrm>
          <a:prstGeom prst="rect">
            <a:avLst/>
          </a:prstGeom>
          <a:solidFill>
            <a:srgbClr val="8A5A10"/>
          </a:solidFill>
          <a:ln w="12700">
            <a:solidFill>
              <a:srgbClr val="333333"/>
            </a:solidFill>
            <a:prstDash val="solid"/>
          </a:ln>
        </p:spPr>
        <p:txBody>
          <a:bodyPr/>
          <a:lstStyle/>
          <a:p>
            <a:endParaRPr lang="en-US"/>
          </a:p>
        </p:txBody>
      </p:sp>
      <p:sp>
        <p:nvSpPr>
          <p:cNvPr id="8" name="Text 4"/>
          <p:cNvSpPr txBox="1"/>
          <p:nvPr/>
        </p:nvSpPr>
        <p:spPr>
          <a:xfrm>
            <a:off x="8503920" y="2852928"/>
            <a:ext cx="2926080" cy="219456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Two boxes here are design intent, not measurement.</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DEPLOYMENT</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Getting it running, repeatably</a:t>
            </a:r>
            <a:endParaRPr lang="en-US" sz="3200" dirty="0"/>
          </a:p>
        </p:txBody>
      </p:sp>
      <p:sp>
        <p:nvSpPr>
          <p:cNvPr id="5" name="stage-0"/>
          <p:cNvSpPr/>
          <p:nvPr/>
        </p:nvSpPr>
        <p:spPr>
          <a:xfrm>
            <a:off x="566928" y="1755648"/>
            <a:ext cx="2558720" cy="1600200"/>
          </a:xfrm>
          <a:prstGeom prst="roundRect">
            <a:avLst>
              <a:gd name="adj" fmla="val 4000"/>
            </a:avLst>
          </a:prstGeom>
          <a:solidFill>
            <a:srgbClr val="FFFFFF"/>
          </a:solidFill>
          <a:ln w="9525">
            <a:solidFill>
              <a:srgbClr val="E2DDD6"/>
            </a:solidFill>
            <a:prstDash val="solid"/>
          </a:ln>
        </p:spPr>
        <p:txBody>
          <a:bodyPr/>
          <a:lstStyle/>
          <a:p>
            <a:endParaRPr lang="en-US"/>
          </a:p>
        </p:txBody>
      </p:sp>
      <p:sp>
        <p:nvSpPr>
          <p:cNvPr id="6" name="Text 3"/>
          <p:cNvSpPr txBox="1"/>
          <p:nvPr/>
        </p:nvSpPr>
        <p:spPr>
          <a:xfrm>
            <a:off x="694944" y="1865376"/>
            <a:ext cx="2302688" cy="138074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Push to main</a:t>
            </a:r>
            <a:endParaRPr lang="en-US" sz="1300" dirty="0"/>
          </a:p>
          <a:p>
            <a:pPr marL="0" indent="0">
              <a:lnSpc>
                <a:spcPct val="105000"/>
              </a:lnSpc>
              <a:buNone/>
            </a:pPr>
            <a:r>
              <a:rPr lang="en-US" sz="1050" dirty="0">
                <a:solidFill>
                  <a:srgbClr val="5F6772"/>
                </a:solidFill>
              </a:rPr>
              <a:t>GitHub Actions triggers.</a:t>
            </a:r>
            <a:endParaRPr lang="en-US" sz="1300" dirty="0"/>
          </a:p>
        </p:txBody>
      </p:sp>
      <p:sp>
        <p:nvSpPr>
          <p:cNvPr id="7" name="Text 4"/>
          <p:cNvSpPr txBox="1"/>
          <p:nvPr/>
        </p:nvSpPr>
        <p:spPr>
          <a:xfrm>
            <a:off x="3125648" y="240030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8" name="stage-1"/>
          <p:cNvSpPr/>
          <p:nvPr/>
        </p:nvSpPr>
        <p:spPr>
          <a:xfrm>
            <a:off x="3399968" y="1755648"/>
            <a:ext cx="2558720" cy="1600200"/>
          </a:xfrm>
          <a:prstGeom prst="roundRect">
            <a:avLst>
              <a:gd name="adj" fmla="val 4000"/>
            </a:avLst>
          </a:prstGeom>
          <a:solidFill>
            <a:srgbClr val="FFFFFF"/>
          </a:solidFill>
          <a:ln w="9525">
            <a:solidFill>
              <a:srgbClr val="E2DDD6"/>
            </a:solidFill>
            <a:prstDash val="solid"/>
          </a:ln>
        </p:spPr>
        <p:txBody>
          <a:bodyPr/>
          <a:lstStyle/>
          <a:p>
            <a:endParaRPr lang="en-US"/>
          </a:p>
        </p:txBody>
      </p:sp>
      <p:sp>
        <p:nvSpPr>
          <p:cNvPr id="9" name="Text 6"/>
          <p:cNvSpPr txBox="1"/>
          <p:nvPr/>
        </p:nvSpPr>
        <p:spPr>
          <a:xfrm>
            <a:off x="3527984" y="1865376"/>
            <a:ext cx="2302688" cy="138074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Build image</a:t>
            </a:r>
            <a:endParaRPr lang="en-US" sz="1300" dirty="0"/>
          </a:p>
          <a:p>
            <a:pPr marL="0" indent="0">
              <a:lnSpc>
                <a:spcPct val="105000"/>
              </a:lnSpc>
              <a:buNone/>
            </a:pPr>
            <a:r>
              <a:rPr lang="en-US" sz="1050" dirty="0">
                <a:solidFill>
                  <a:srgbClr val="5F6772"/>
                </a:solidFill>
              </a:rPr>
              <a:t>Docker, multi-arch, pushed to a registry.</a:t>
            </a:r>
            <a:endParaRPr lang="en-US" sz="1300" dirty="0"/>
          </a:p>
        </p:txBody>
      </p:sp>
      <p:sp>
        <p:nvSpPr>
          <p:cNvPr id="10" name="Text 7"/>
          <p:cNvSpPr txBox="1"/>
          <p:nvPr/>
        </p:nvSpPr>
        <p:spPr>
          <a:xfrm>
            <a:off x="5958688" y="240030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11" name="stage-2"/>
          <p:cNvSpPr/>
          <p:nvPr/>
        </p:nvSpPr>
        <p:spPr>
          <a:xfrm>
            <a:off x="6233008" y="1755648"/>
            <a:ext cx="2558720" cy="1600200"/>
          </a:xfrm>
          <a:prstGeom prst="roundRect">
            <a:avLst>
              <a:gd name="adj" fmla="val 4000"/>
            </a:avLst>
          </a:prstGeom>
          <a:solidFill>
            <a:srgbClr val="FFFFFF"/>
          </a:solidFill>
          <a:ln w="9525">
            <a:solidFill>
              <a:srgbClr val="E2DDD6"/>
            </a:solidFill>
            <a:prstDash val="solid"/>
          </a:ln>
        </p:spPr>
        <p:txBody>
          <a:bodyPr/>
          <a:lstStyle/>
          <a:p>
            <a:endParaRPr lang="en-US"/>
          </a:p>
        </p:txBody>
      </p:sp>
      <p:sp>
        <p:nvSpPr>
          <p:cNvPr id="12" name="Text 9"/>
          <p:cNvSpPr txBox="1"/>
          <p:nvPr/>
        </p:nvSpPr>
        <p:spPr>
          <a:xfrm>
            <a:off x="6361024" y="1865376"/>
            <a:ext cx="2302688" cy="138074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Update manifest</a:t>
            </a:r>
            <a:endParaRPr lang="en-US" sz="1300" dirty="0"/>
          </a:p>
          <a:p>
            <a:pPr marL="0" indent="0">
              <a:lnSpc>
                <a:spcPct val="105000"/>
              </a:lnSpc>
              <a:buNone/>
            </a:pPr>
            <a:r>
              <a:rPr lang="en-US" sz="1050" dirty="0">
                <a:solidFill>
                  <a:srgbClr val="5F6772"/>
                </a:solidFill>
              </a:rPr>
              <a:t>A second job bumps the image tag in a Git repo.</a:t>
            </a:r>
            <a:endParaRPr lang="en-US" sz="1300" dirty="0"/>
          </a:p>
        </p:txBody>
      </p:sp>
      <p:sp>
        <p:nvSpPr>
          <p:cNvPr id="13" name="Text 10"/>
          <p:cNvSpPr txBox="1"/>
          <p:nvPr/>
        </p:nvSpPr>
        <p:spPr>
          <a:xfrm>
            <a:off x="8791727" y="240030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14" name="stage-3"/>
          <p:cNvSpPr/>
          <p:nvPr/>
        </p:nvSpPr>
        <p:spPr>
          <a:xfrm>
            <a:off x="9066047" y="1755648"/>
            <a:ext cx="2558720" cy="1600200"/>
          </a:xfrm>
          <a:prstGeom prst="roundRect">
            <a:avLst>
              <a:gd name="adj" fmla="val 4000"/>
            </a:avLst>
          </a:prstGeom>
          <a:solidFill>
            <a:srgbClr val="F0E4E8"/>
          </a:solidFill>
          <a:ln w="15875">
            <a:solidFill>
              <a:srgbClr val="6B1F37"/>
            </a:solidFill>
            <a:prstDash val="solid"/>
          </a:ln>
        </p:spPr>
        <p:txBody>
          <a:bodyPr/>
          <a:lstStyle/>
          <a:p>
            <a:endParaRPr lang="en-US"/>
          </a:p>
        </p:txBody>
      </p:sp>
      <p:sp>
        <p:nvSpPr>
          <p:cNvPr id="15" name="Text 12"/>
          <p:cNvSpPr txBox="1"/>
          <p:nvPr/>
        </p:nvSpPr>
        <p:spPr>
          <a:xfrm>
            <a:off x="9194063" y="1865376"/>
            <a:ext cx="2302688" cy="138074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ArgoCD reconciles</a:t>
            </a:r>
            <a:endParaRPr lang="en-US" sz="1300" dirty="0"/>
          </a:p>
          <a:p>
            <a:pPr marL="0" indent="0">
              <a:lnSpc>
                <a:spcPct val="105000"/>
              </a:lnSpc>
              <a:buNone/>
            </a:pPr>
            <a:r>
              <a:rPr lang="en-US" sz="1050" dirty="0">
                <a:solidFill>
                  <a:srgbClr val="5F6772"/>
                </a:solidFill>
              </a:rPr>
              <a:t>Watches that repo and makes the cluster match it.</a:t>
            </a:r>
            <a:endParaRPr lang="en-US" sz="1300" dirty="0"/>
          </a:p>
        </p:txBody>
      </p:sp>
      <p:sp>
        <p:nvSpPr>
          <p:cNvPr id="16" name="Text 13"/>
          <p:cNvSpPr txBox="1"/>
          <p:nvPr/>
        </p:nvSpPr>
        <p:spPr>
          <a:xfrm>
            <a:off x="566928" y="3675888"/>
            <a:ext cx="10789920" cy="2468880"/>
          </a:xfrm>
          <a:prstGeom prst="rect">
            <a:avLst/>
          </a:prstGeom>
          <a:noFill/>
          <a:ln/>
        </p:spPr>
        <p:txBody>
          <a:bodyPr wrap="square" lIns="0" tIns="0" rIns="0" bIns="0" rtlCol="0" anchor="ctr"/>
          <a:lstStyle/>
          <a:p>
            <a:pPr marL="342900" indent="-342900">
              <a:lnSpc>
                <a:spcPct val="108000"/>
              </a:lnSpc>
              <a:spcAft>
                <a:spcPts val="300"/>
              </a:spcAft>
              <a:buSzPct val="100000"/>
              <a:buChar char="●"/>
            </a:pPr>
            <a:r>
              <a:rPr lang="en-US" sz="1700" b="1" dirty="0">
                <a:solidFill>
                  <a:srgbClr val="1C1F24"/>
                </a:solidFill>
              </a:rPr>
              <a:t>Nobody deploys by hand</a:t>
            </a:r>
            <a:endParaRPr lang="en-US" sz="1700" dirty="0"/>
          </a:p>
          <a:p>
            <a:pPr marL="0" lvl="1" indent="0">
              <a:lnSpc>
                <a:spcPct val="108000"/>
              </a:lnSpc>
              <a:spcAft>
                <a:spcPts val="1800"/>
              </a:spcAft>
              <a:buNone/>
            </a:pPr>
            <a:r>
              <a:rPr lang="en-US" sz="1400" dirty="0">
                <a:solidFill>
                  <a:srgbClr val="5F6772"/>
                </a:solidFill>
              </a:rPr>
              <a:t>The cluster’s desired state lives in Git. If you change the cluster directly, ArgoCD changes it back.</a:t>
            </a:r>
            <a:endParaRPr lang="en-US" sz="1700" dirty="0"/>
          </a:p>
          <a:p>
            <a:pPr marL="342900" indent="-342900">
              <a:lnSpc>
                <a:spcPct val="108000"/>
              </a:lnSpc>
              <a:spcAft>
                <a:spcPts val="300"/>
              </a:spcAft>
              <a:buSzPct val="100000"/>
              <a:buChar char="●"/>
            </a:pPr>
            <a:r>
              <a:rPr lang="en-US" sz="1700" b="1" dirty="0">
                <a:solidFill>
                  <a:srgbClr val="1C1F24"/>
                </a:solidFill>
              </a:rPr>
              <a:t>Rollback is a revert</a:t>
            </a:r>
            <a:endParaRPr lang="en-US" sz="1700" dirty="0"/>
          </a:p>
          <a:p>
            <a:pPr marL="0" lvl="1" indent="0">
              <a:lnSpc>
                <a:spcPct val="108000"/>
              </a:lnSpc>
              <a:buNone/>
            </a:pPr>
            <a:r>
              <a:rPr lang="en-US" sz="1400" dirty="0">
                <a:solidFill>
                  <a:srgbClr val="5F6772"/>
                </a:solidFill>
              </a:rPr>
              <a:t>And every change is attributable to a commit and an author. That is the part auditors care about.</a:t>
            </a:r>
            <a:endParaRPr lang="en-US" sz="17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ONE · DEPLOYMENT</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What the pipelines actually cost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18488"/>
          <a:ext cx="10789920" cy="1297940"/>
        </p:xfrm>
        <a:graphic>
          <a:graphicData uri="http://schemas.openxmlformats.org/drawingml/2006/table">
            <a:tbl>
              <a:tblPr/>
              <a:tblGrid>
                <a:gridCol w="28346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0">
                <a:tc>
                  <a:txBody>
                    <a:bodyPr/>
                    <a:lstStyle/>
                    <a:p>
                      <a:pPr marL="0" indent="0" algn="l">
                        <a:buNone/>
                      </a:pPr>
                      <a:r>
                        <a:rPr lang="en-US" sz="1300" b="1" dirty="0">
                          <a:solidFill>
                            <a:srgbClr val="1C1F24"/>
                          </a:solidFill>
                          <a:latin typeface="Calibri" pitchFamily="34" charset="0"/>
                          <a:ea typeface="Calibri" pitchFamily="34" charset="-122"/>
                          <a:cs typeface="Calibri" pitchFamily="34" charset="-120"/>
                        </a:rPr>
                        <a:t>Service</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tc>
                  <a:txBody>
                    <a:bodyPr/>
                    <a:lstStyle/>
                    <a:p>
                      <a:pPr marL="0" indent="0" algn="l">
                        <a:buNone/>
                      </a:pPr>
                      <a:r>
                        <a:rPr lang="en-US" sz="1300" b="1" dirty="0">
                          <a:solidFill>
                            <a:srgbClr val="1C1F24"/>
                          </a:solidFill>
                          <a:latin typeface="Calibri" pitchFamily="34" charset="0"/>
                          <a:ea typeface="Calibri" pitchFamily="34" charset="-122"/>
                          <a:cs typeface="Calibri" pitchFamily="34" charset="-120"/>
                        </a:rPr>
                        <a:t>Jobs</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tc>
                  <a:txBody>
                    <a:bodyPr/>
                    <a:lstStyle/>
                    <a:p>
                      <a:pPr marL="0" indent="0" algn="l">
                        <a:buNone/>
                      </a:pPr>
                      <a:r>
                        <a:rPr lang="en-US" sz="1300" b="1" dirty="0">
                          <a:solidFill>
                            <a:srgbClr val="1C1F24"/>
                          </a:solidFill>
                          <a:latin typeface="Calibri" pitchFamily="34" charset="0"/>
                          <a:ea typeface="Calibri" pitchFamily="34" charset="-122"/>
                          <a:cs typeface="Calibri" pitchFamily="34" charset="-120"/>
                        </a:rPr>
                        <a:t>Duration</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React frontend</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Build and push → update manifest</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4m 42s</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Spring Boot service</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Build JAR → build and push → update manifest</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1m 47s</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Python ML service</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Lint gate → build and push</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b="1" dirty="0">
                          <a:solidFill>
                            <a:srgbClr val="8A5A10"/>
                          </a:solidFill>
                          <a:latin typeface="Calibri" pitchFamily="34" charset="0"/>
                          <a:ea typeface="Calibri" pitchFamily="34" charset="-122"/>
                          <a:cs typeface="Calibri" pitchFamily="34" charset="-120"/>
                        </a:rPr>
                        <a:t>15m 54s</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callout-card"/>
          <p:cNvSpPr/>
          <p:nvPr/>
        </p:nvSpPr>
        <p:spPr>
          <a:xfrm>
            <a:off x="566928" y="4581144"/>
            <a:ext cx="10789920" cy="169164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7" name="callout-rule"/>
          <p:cNvSpPr/>
          <p:nvPr/>
        </p:nvSpPr>
        <p:spPr>
          <a:xfrm>
            <a:off x="566928" y="4581144"/>
            <a:ext cx="41148" cy="1691640"/>
          </a:xfrm>
          <a:prstGeom prst="rect">
            <a:avLst/>
          </a:prstGeom>
          <a:solidFill>
            <a:srgbClr val="6B1F37"/>
          </a:solidFill>
          <a:ln w="12700">
            <a:solidFill>
              <a:srgbClr val="333333"/>
            </a:solidFill>
            <a:prstDash val="solid"/>
          </a:ln>
        </p:spPr>
        <p:txBody>
          <a:bodyPr/>
          <a:lstStyle/>
          <a:p>
            <a:endParaRPr lang="en-US"/>
          </a:p>
        </p:txBody>
      </p:sp>
      <p:sp>
        <p:nvSpPr>
          <p:cNvPr id="8" name="Text 4"/>
          <p:cNvSpPr txBox="1"/>
          <p:nvPr/>
        </p:nvSpPr>
        <p:spPr>
          <a:xfrm>
            <a:off x="841248" y="4672584"/>
            <a:ext cx="10287000" cy="150876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Same pipeline, same cluster — and the machine learning service takes nine times longer to deploy than the Java one. Its image installs NumPy, pandas, scikit-learn and TensorFlow; the Java one is a single JAR.</a:t>
            </a:r>
            <a:endParaRPr lang="en-US" sz="1500" dirty="0"/>
          </a:p>
          <a:p>
            <a:pPr marL="0" indent="0">
              <a:lnSpc>
                <a:spcPct val="106000"/>
              </a:lnSpc>
              <a:buNone/>
            </a:pPr>
            <a:endParaRPr lang="en-US" sz="1500" dirty="0"/>
          </a:p>
          <a:p>
            <a:pPr marL="0" indent="0">
              <a:lnSpc>
                <a:spcPct val="106000"/>
              </a:lnSpc>
              <a:buNone/>
            </a:pPr>
            <a:r>
              <a:rPr lang="en-US" sz="1150" dirty="0">
                <a:solidFill>
                  <a:srgbClr val="8B929C"/>
                </a:solidFill>
              </a:rPr>
              <a:t>The modelling stack you choose quietly sets how fast you can ship a fix.</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TWO · PREDICTION RESULT</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The simplest model won</a:t>
            </a:r>
            <a:endParaRPr lang="en-US" sz="3200" dirty="0"/>
          </a:p>
        </p:txBody>
      </p:sp>
      <p:graphicFrame>
        <p:nvGraphicFramePr>
          <p:cNvPr id="5" name="r2-chart"/>
          <p:cNvGraphicFramePr/>
          <p:nvPr/>
        </p:nvGraphicFramePr>
        <p:xfrm>
          <a:off x="566928" y="1527048"/>
          <a:ext cx="77724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8595360" y="1938528"/>
            <a:ext cx="3063240" cy="3840480"/>
          </a:xfrm>
          <a:prstGeom prst="rect">
            <a:avLst/>
          </a:prstGeom>
          <a:noFill/>
          <a:ln/>
        </p:spPr>
        <p:txBody>
          <a:bodyPr wrap="square" lIns="0" tIns="0" rIns="0" bIns="0" rtlCol="0" anchor="t"/>
          <a:lstStyle/>
          <a:p>
            <a:pPr marL="0" indent="0">
              <a:lnSpc>
                <a:spcPct val="106000"/>
              </a:lnSpc>
              <a:buNone/>
            </a:pPr>
            <a:r>
              <a:rPr lang="en-US" sz="1400" b="1" dirty="0">
                <a:solidFill>
                  <a:srgbClr val="8A5A10"/>
                </a:solidFill>
              </a:rPr>
              <a:t>Below the line: worse than predicting the test-set average.</a:t>
            </a:r>
            <a:endParaRPr lang="en-US" sz="1400" dirty="0"/>
          </a:p>
          <a:p>
            <a:pPr marL="0" indent="0">
              <a:lnSpc>
                <a:spcPct val="106000"/>
              </a:lnSpc>
              <a:buNone/>
            </a:pPr>
            <a:endParaRPr lang="en-US" sz="1400" dirty="0"/>
          </a:p>
          <a:p>
            <a:pPr marL="0" indent="0">
              <a:lnSpc>
                <a:spcPct val="106000"/>
              </a:lnSpc>
              <a:buNone/>
            </a:pPr>
            <a:r>
              <a:rPr lang="en-US" sz="1400" dirty="0">
                <a:solidFill>
                  <a:srgbClr val="1C1F24"/>
                </a:solidFill>
              </a:rPr>
              <a:t>A tree predicts by averaging the training values in a leaf — so it cannot output a number it has never seen. SOFR went from near zero to over five percent, and both tree models were trapped below it.</a:t>
            </a:r>
            <a:endParaRPr lang="en-US" sz="1400" dirty="0"/>
          </a:p>
          <a:p>
            <a:pPr marL="0" indent="0">
              <a:lnSpc>
                <a:spcPct val="106000"/>
              </a:lnSpc>
              <a:buNone/>
            </a:pPr>
            <a:endParaRPr lang="en-US" sz="1400" dirty="0"/>
          </a:p>
          <a:p>
            <a:pPr marL="0" indent="0">
              <a:lnSpc>
                <a:spcPct val="106000"/>
              </a:lnSpc>
              <a:buNone/>
            </a:pPr>
            <a:r>
              <a:rPr lang="en-US" sz="1150" dirty="0">
                <a:solidFill>
                  <a:srgbClr val="8B929C"/>
                </a:solidFill>
              </a:rPr>
              <a:t>R² on levels — and “tomorrow equals today” scores about as well. These numbers describe the data more than the models.</a:t>
            </a:r>
            <a:endParaRPr lang="en-US" sz="14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TWO · VALIDATION RESULT</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Three detectors, three different answers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18488"/>
          <a:ext cx="10789920" cy="1297940"/>
        </p:xfrm>
        <a:graphic>
          <a:graphicData uri="http://schemas.openxmlformats.org/drawingml/2006/table">
            <a:tbl>
              <a:tblPr/>
              <a:tblGrid>
                <a:gridCol w="47548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0">
                <a:tc>
                  <a:txBody>
                    <a:bodyPr/>
                    <a:lstStyle/>
                    <a:p>
                      <a:pPr marL="0" indent="0" algn="l">
                        <a:buNone/>
                      </a:pPr>
                      <a:r>
                        <a:rPr lang="en-US" sz="1300" b="1" dirty="0">
                          <a:solidFill>
                            <a:srgbClr val="1C1F24"/>
                          </a:solidFill>
                          <a:latin typeface="Calibri" pitchFamily="34" charset="0"/>
                          <a:ea typeface="Calibri" pitchFamily="34" charset="-122"/>
                          <a:cs typeface="Calibri" pitchFamily="34" charset="-120"/>
                        </a:rPr>
                        <a:t>Detector</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tc>
                  <a:txBody>
                    <a:bodyPr/>
                    <a:lstStyle/>
                    <a:p>
                      <a:pPr marL="0" indent="0" algn="r">
                        <a:buNone/>
                      </a:pPr>
                      <a:r>
                        <a:rPr lang="en-US" sz="1300" b="1" dirty="0">
                          <a:solidFill>
                            <a:srgbClr val="1C1F24"/>
                          </a:solidFill>
                          <a:latin typeface="Calibri" pitchFamily="34" charset="0"/>
                          <a:ea typeface="Calibri" pitchFamily="34" charset="-122"/>
                          <a:cs typeface="Calibri" pitchFamily="34" charset="-120"/>
                        </a:rPr>
                        <a:t>ZAR/EUR</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tc>
                  <a:txBody>
                    <a:bodyPr/>
                    <a:lstStyle/>
                    <a:p>
                      <a:pPr marL="0" indent="0" algn="r">
                        <a:buNone/>
                      </a:pPr>
                      <a:r>
                        <a:rPr lang="en-US" sz="1300" b="1" dirty="0">
                          <a:solidFill>
                            <a:srgbClr val="1C1F24"/>
                          </a:solidFill>
                          <a:latin typeface="Calibri" pitchFamily="34" charset="0"/>
                          <a:ea typeface="Calibri" pitchFamily="34" charset="-122"/>
                          <a:cs typeface="Calibri" pitchFamily="34" charset="-120"/>
                        </a:rPr>
                        <a:t>ZAR/USD</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tc>
                  <a:txBody>
                    <a:bodyPr/>
                    <a:lstStyle/>
                    <a:p>
                      <a:pPr marL="0" indent="0" algn="r">
                        <a:buNone/>
                      </a:pPr>
                      <a:r>
                        <a:rPr lang="en-US" sz="1300" b="1" dirty="0">
                          <a:solidFill>
                            <a:srgbClr val="1C1F24"/>
                          </a:solidFill>
                          <a:latin typeface="Calibri" pitchFamily="34" charset="0"/>
                          <a:ea typeface="Calibri" pitchFamily="34" charset="-122"/>
                          <a:cs typeface="Calibri" pitchFamily="34" charset="-120"/>
                        </a:rPr>
                        <a:t>SOFR</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K-Means clustering</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r">
                        <a:buNone/>
                      </a:pPr>
                      <a:r>
                        <a:rPr lang="en-US" sz="1350" dirty="0">
                          <a:solidFill>
                            <a:srgbClr val="1C1F24"/>
                          </a:solidFill>
                          <a:latin typeface="Calibri" pitchFamily="34" charset="0"/>
                          <a:ea typeface="Calibri" pitchFamily="34" charset="-122"/>
                          <a:cs typeface="Calibri" pitchFamily="34" charset="-120"/>
                        </a:rPr>
                        <a:t>245</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r">
                        <a:buNone/>
                      </a:pPr>
                      <a:r>
                        <a:rPr lang="en-US" sz="1350" dirty="0">
                          <a:solidFill>
                            <a:srgbClr val="1C1F24"/>
                          </a:solidFill>
                          <a:latin typeface="Calibri" pitchFamily="34" charset="0"/>
                          <a:ea typeface="Calibri" pitchFamily="34" charset="-122"/>
                          <a:cs typeface="Calibri" pitchFamily="34" charset="-120"/>
                        </a:rPr>
                        <a:t>335</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r">
                        <a:buNone/>
                      </a:pPr>
                      <a:r>
                        <a:rPr lang="en-US" sz="1350" dirty="0">
                          <a:solidFill>
                            <a:srgbClr val="1C1F24"/>
                          </a:solidFill>
                          <a:latin typeface="Calibri" pitchFamily="34" charset="0"/>
                          <a:ea typeface="Calibri" pitchFamily="34" charset="-122"/>
                          <a:cs typeface="Calibri" pitchFamily="34" charset="-120"/>
                        </a:rPr>
                        <a:t>113</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350" b="1" dirty="0">
                          <a:solidFill>
                            <a:srgbClr val="1C1F24"/>
                          </a:solidFill>
                          <a:latin typeface="Calibri" pitchFamily="34" charset="0"/>
                          <a:ea typeface="Calibri" pitchFamily="34" charset="-122"/>
                          <a:cs typeface="Calibri" pitchFamily="34" charset="-120"/>
                        </a:rPr>
                        <a:t>Autoencoder</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r">
                        <a:buNone/>
                      </a:pPr>
                      <a:r>
                        <a:rPr lang="en-US" sz="1350" b="1" dirty="0">
                          <a:solidFill>
                            <a:srgbClr val="1C1F24"/>
                          </a:solidFill>
                          <a:latin typeface="Calibri" pitchFamily="34" charset="0"/>
                          <a:ea typeface="Calibri" pitchFamily="34" charset="-122"/>
                          <a:cs typeface="Calibri" pitchFamily="34" charset="-120"/>
                        </a:rPr>
                        <a:t>147</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r">
                        <a:buNone/>
                      </a:pPr>
                      <a:r>
                        <a:rPr lang="en-US" sz="1350" b="1" dirty="0">
                          <a:solidFill>
                            <a:srgbClr val="1C1F24"/>
                          </a:solidFill>
                          <a:latin typeface="Calibri" pitchFamily="34" charset="0"/>
                          <a:ea typeface="Calibri" pitchFamily="34" charset="-122"/>
                          <a:cs typeface="Calibri" pitchFamily="34" charset="-120"/>
                        </a:rPr>
                        <a:t>176</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r">
                        <a:buNone/>
                      </a:pPr>
                      <a:r>
                        <a:rPr lang="en-US" sz="1350" b="1" dirty="0">
                          <a:solidFill>
                            <a:srgbClr val="1C1F24"/>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Classifier  (trained on K-Means labels)</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r">
                        <a:buNone/>
                      </a:pPr>
                      <a:r>
                        <a:rPr lang="en-US" sz="1350" dirty="0">
                          <a:solidFill>
                            <a:srgbClr val="1C1F24"/>
                          </a:solidFill>
                          <a:latin typeface="Calibri" pitchFamily="34" charset="0"/>
                          <a:ea typeface="Calibri" pitchFamily="34" charset="-122"/>
                          <a:cs typeface="Calibri" pitchFamily="34" charset="-120"/>
                        </a:rPr>
                        <a:t>241</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r">
                        <a:buNone/>
                      </a:pPr>
                      <a:r>
                        <a:rPr lang="en-US" sz="1350" dirty="0">
                          <a:solidFill>
                            <a:srgbClr val="1C1F24"/>
                          </a:solidFill>
                          <a:latin typeface="Calibri" pitchFamily="34" charset="0"/>
                          <a:ea typeface="Calibri" pitchFamily="34" charset="-122"/>
                          <a:cs typeface="Calibri" pitchFamily="34" charset="-120"/>
                        </a:rPr>
                        <a:t>343</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r">
                        <a:buNone/>
                      </a:pPr>
                      <a:r>
                        <a:rPr lang="en-US" sz="1350" dirty="0">
                          <a:solidFill>
                            <a:srgbClr val="1C1F24"/>
                          </a:solidFill>
                          <a:latin typeface="Calibri" pitchFamily="34" charset="0"/>
                          <a:ea typeface="Calibri" pitchFamily="34" charset="-122"/>
                          <a:cs typeface="Calibri" pitchFamily="34" charset="-120"/>
                        </a:rPr>
                        <a:t>116</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callout-card"/>
          <p:cNvSpPr/>
          <p:nvPr/>
        </p:nvSpPr>
        <p:spPr>
          <a:xfrm>
            <a:off x="566928" y="4443984"/>
            <a:ext cx="10789920" cy="182880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7" name="callout-rule"/>
          <p:cNvSpPr/>
          <p:nvPr/>
        </p:nvSpPr>
        <p:spPr>
          <a:xfrm>
            <a:off x="566928" y="4443984"/>
            <a:ext cx="41148" cy="1828800"/>
          </a:xfrm>
          <a:prstGeom prst="rect">
            <a:avLst/>
          </a:prstGeom>
          <a:solidFill>
            <a:srgbClr val="8A5A10"/>
          </a:solidFill>
          <a:ln w="12700">
            <a:solidFill>
              <a:srgbClr val="333333"/>
            </a:solidFill>
            <a:prstDash val="solid"/>
          </a:ln>
        </p:spPr>
        <p:txBody>
          <a:bodyPr/>
          <a:lstStyle/>
          <a:p>
            <a:endParaRPr lang="en-US"/>
          </a:p>
        </p:txBody>
      </p:sp>
      <p:sp>
        <p:nvSpPr>
          <p:cNvPr id="8" name="Text 4"/>
          <p:cNvSpPr txBox="1"/>
          <p:nvPr/>
        </p:nvSpPr>
        <p:spPr>
          <a:xfrm>
            <a:off x="841248" y="4535424"/>
            <a:ext cx="10287000" cy="164592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Rows one and three track each other because one is trained on the other’s output. Only the middle row is independent — and it caught COVID on both currency pairs when clustering did not, and the September 2019 repo crisis at 21× its threshold, alone.</a:t>
            </a:r>
            <a:endParaRPr lang="en-US" sz="1500" dirty="0"/>
          </a:p>
          <a:p>
            <a:pPr marL="0" indent="0">
              <a:lnSpc>
                <a:spcPct val="106000"/>
              </a:lnSpc>
              <a:buNone/>
            </a:pPr>
            <a:endParaRPr lang="en-US" sz="1500" dirty="0"/>
          </a:p>
          <a:p>
            <a:pPr marL="0" indent="0">
              <a:lnSpc>
                <a:spcPct val="106000"/>
              </a:lnSpc>
              <a:buNone/>
            </a:pPr>
            <a:r>
              <a:rPr lang="en-US" sz="1150" dirty="0">
                <a:solidFill>
                  <a:srgbClr val="8B929C"/>
                </a:solidFill>
              </a:rPr>
              <a:t>My rule escalates on two votes of three. It would have discarded the best detection the system ever made.</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TWO · WHAT A DEALER GETS</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Two answers, at the moment of the quote</a:t>
            </a:r>
            <a:endParaRPr lang="en-US" sz="3200" dirty="0"/>
          </a:p>
        </p:txBody>
      </p:sp>
      <p:pic>
        <p:nvPicPr>
          <p:cNvPr id="5" name="trader" descr="figs/trader_signal.png"/>
          <p:cNvPicPr>
            <a:picLocks noChangeAspect="1"/>
          </p:cNvPicPr>
          <p:nvPr/>
        </p:nvPicPr>
        <p:blipFill>
          <a:blip r:embed="rId3"/>
          <a:stretch>
            <a:fillRect/>
          </a:stretch>
        </p:blipFill>
        <p:spPr>
          <a:xfrm>
            <a:off x="753466" y="1481328"/>
            <a:ext cx="3833165" cy="4791456"/>
          </a:xfrm>
          <a:prstGeom prst="rect">
            <a:avLst/>
          </a:prstGeom>
        </p:spPr>
      </p:pic>
      <p:sp>
        <p:nvSpPr>
          <p:cNvPr id="6" name="Text 2"/>
          <p:cNvSpPr txBox="1"/>
          <p:nvPr/>
        </p:nvSpPr>
        <p:spPr>
          <a:xfrm>
            <a:off x="5394960" y="1572768"/>
            <a:ext cx="6263640" cy="3200400"/>
          </a:xfrm>
          <a:prstGeom prst="rect">
            <a:avLst/>
          </a:prstGeom>
          <a:noFill/>
          <a:ln/>
        </p:spPr>
        <p:txBody>
          <a:bodyPr wrap="square" lIns="0" tIns="0" rIns="0" bIns="0" rtlCol="0" anchor="t"/>
          <a:lstStyle/>
          <a:p>
            <a:pPr marL="342900" indent="-342900">
              <a:lnSpc>
                <a:spcPct val="108000"/>
              </a:lnSpc>
              <a:spcAft>
                <a:spcPts val="300"/>
              </a:spcAft>
              <a:buSzPct val="100000"/>
              <a:buChar char="●"/>
            </a:pPr>
            <a:r>
              <a:rPr lang="en-US" sz="1600" b="1" dirty="0">
                <a:solidFill>
                  <a:srgbClr val="1C1F24"/>
                </a:solidFill>
              </a:rPr>
              <a:t>A value to check the quote against</a:t>
            </a:r>
            <a:endParaRPr lang="en-US" sz="1600" dirty="0"/>
          </a:p>
          <a:p>
            <a:pPr marL="0" lvl="1" indent="0">
              <a:lnSpc>
                <a:spcPct val="108000"/>
              </a:lnSpc>
              <a:spcAft>
                <a:spcPts val="1800"/>
              </a:spcAft>
              <a:buNone/>
            </a:pPr>
            <a:r>
              <a:rPr lang="en-US" sz="1300" dirty="0">
                <a:solidFill>
                  <a:srgbClr val="5F6772"/>
                </a:solidFill>
              </a:rPr>
              <a:t>An expected rate and the deviation from it. A reference point — not a forecast to trade on.</a:t>
            </a:r>
            <a:endParaRPr lang="en-US" sz="1600" dirty="0"/>
          </a:p>
          <a:p>
            <a:pPr marL="342900" indent="-342900">
              <a:lnSpc>
                <a:spcPct val="108000"/>
              </a:lnSpc>
              <a:spcAft>
                <a:spcPts val="300"/>
              </a:spcAft>
              <a:buSzPct val="100000"/>
              <a:buChar char="●"/>
            </a:pPr>
            <a:r>
              <a:rPr lang="en-US" sz="1600" b="1" dirty="0">
                <a:solidFill>
                  <a:srgbClr val="1C1F24"/>
                </a:solidFill>
              </a:rPr>
              <a:t>A verdict with a reason attached</a:t>
            </a:r>
            <a:endParaRPr lang="en-US" sz="1600" dirty="0"/>
          </a:p>
          <a:p>
            <a:pPr marL="0" lvl="1" indent="0">
              <a:lnSpc>
                <a:spcPct val="108000"/>
              </a:lnSpc>
              <a:spcAft>
                <a:spcPts val="1800"/>
              </a:spcAft>
              <a:buNone/>
            </a:pPr>
            <a:r>
              <a:rPr lang="en-US" sz="1300" dirty="0">
                <a:solidFill>
                  <a:srgbClr val="5F6772"/>
                </a:solidFill>
              </a:rPr>
              <a:t>Which detectors flagged it, and how strongly. A dealer sees why, not just a refusal.</a:t>
            </a:r>
            <a:endParaRPr lang="en-US" sz="1600" dirty="0"/>
          </a:p>
          <a:p>
            <a:pPr marL="342900" indent="-342900">
              <a:lnSpc>
                <a:spcPct val="108000"/>
              </a:lnSpc>
              <a:spcAft>
                <a:spcPts val="300"/>
              </a:spcAft>
              <a:buSzPct val="100000"/>
              <a:buChar char="●"/>
            </a:pPr>
            <a:r>
              <a:rPr lang="en-US" sz="1600" b="1" dirty="0">
                <a:solidFill>
                  <a:srgbClr val="1C1F24"/>
                </a:solidFill>
              </a:rPr>
              <a:t>Before the quote, not after it</a:t>
            </a:r>
            <a:endParaRPr lang="en-US" sz="1600" dirty="0"/>
          </a:p>
          <a:p>
            <a:pPr marL="0" lvl="1" indent="0">
              <a:lnSpc>
                <a:spcPct val="108000"/>
              </a:lnSpc>
              <a:buNone/>
            </a:pPr>
            <a:r>
              <a:rPr lang="en-US" sz="1300" dirty="0">
                <a:solidFill>
                  <a:srgbClr val="5F6772"/>
                </a:solidFill>
              </a:rPr>
              <a:t>The difference between catching a bad rate and explaining one the next morning.</a:t>
            </a:r>
            <a:endParaRPr lang="en-US" sz="1600" dirty="0"/>
          </a:p>
        </p:txBody>
      </p:sp>
      <p:sp>
        <p:nvSpPr>
          <p:cNvPr id="7" name="callout-card"/>
          <p:cNvSpPr/>
          <p:nvPr/>
        </p:nvSpPr>
        <p:spPr>
          <a:xfrm>
            <a:off x="5394960" y="4946904"/>
            <a:ext cx="6263640" cy="132588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8" name="callout-rule"/>
          <p:cNvSpPr/>
          <p:nvPr/>
        </p:nvSpPr>
        <p:spPr>
          <a:xfrm>
            <a:off x="5394960" y="4946904"/>
            <a:ext cx="41148" cy="1325880"/>
          </a:xfrm>
          <a:prstGeom prst="rect">
            <a:avLst/>
          </a:prstGeom>
          <a:solidFill>
            <a:srgbClr val="6B1F37"/>
          </a:solidFill>
          <a:ln w="12700">
            <a:solidFill>
              <a:srgbClr val="333333"/>
            </a:solidFill>
            <a:prstDash val="solid"/>
          </a:ln>
        </p:spPr>
        <p:txBody>
          <a:bodyPr/>
          <a:lstStyle/>
          <a:p>
            <a:endParaRPr lang="en-US"/>
          </a:p>
        </p:txBody>
      </p:sp>
      <p:sp>
        <p:nvSpPr>
          <p:cNvPr id="9" name="Text 5"/>
          <p:cNvSpPr txBox="1"/>
          <p:nvPr/>
        </p:nvSpPr>
        <p:spPr>
          <a:xfrm>
            <a:off x="5669280" y="5038344"/>
            <a:ext cx="5760720" cy="114300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Back to the customer on the first slide — this is where that deal stops being binding on a wrong number.</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TWO · THE SYSTEM</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What it produces</a:t>
            </a:r>
            <a:endParaRPr lang="en-US" sz="3200" dirty="0"/>
          </a:p>
        </p:txBody>
      </p:sp>
      <p:sp>
        <p:nvSpPr>
          <p:cNvPr id="5" name="shot-0"/>
          <p:cNvSpPr/>
          <p:nvPr/>
        </p:nvSpPr>
        <p:spPr>
          <a:xfrm>
            <a:off x="566928" y="1481328"/>
            <a:ext cx="2586152" cy="2258568"/>
          </a:xfrm>
          <a:prstGeom prst="roundRect">
            <a:avLst>
              <a:gd name="adj" fmla="val 2024"/>
            </a:avLst>
          </a:prstGeom>
          <a:solidFill>
            <a:srgbClr val="FFFFFF"/>
          </a:solidFill>
          <a:ln w="9525">
            <a:solidFill>
              <a:srgbClr val="E2DDD6"/>
            </a:solidFill>
            <a:prstDash val="dash"/>
          </a:ln>
        </p:spPr>
        <p:txBody>
          <a:bodyPr/>
          <a:lstStyle/>
          <a:p>
            <a:endParaRPr lang="en-US"/>
          </a:p>
        </p:txBody>
      </p:sp>
      <p:sp>
        <p:nvSpPr>
          <p:cNvPr id="6" name="Text 3"/>
          <p:cNvSpPr txBox="1"/>
          <p:nvPr/>
        </p:nvSpPr>
        <p:spPr>
          <a:xfrm>
            <a:off x="566928" y="2226564"/>
            <a:ext cx="2586152" cy="274320"/>
          </a:xfrm>
          <a:prstGeom prst="rect">
            <a:avLst/>
          </a:prstGeom>
          <a:noFill/>
          <a:ln/>
        </p:spPr>
        <p:txBody>
          <a:bodyPr wrap="square" lIns="0" tIns="0" rIns="0" bIns="0" rtlCol="0" anchor="ctr"/>
          <a:lstStyle/>
          <a:p>
            <a:pPr marL="0" indent="0" algn="ctr">
              <a:buNone/>
            </a:pPr>
            <a:r>
              <a:rPr lang="en-US" sz="1000" i="1" dirty="0">
                <a:solidFill>
                  <a:srgbClr val="8B929C"/>
                </a:solidFill>
              </a:rPr>
              <a:t>drop screenshot here</a:t>
            </a:r>
            <a:endParaRPr lang="en-US" sz="1000" dirty="0"/>
          </a:p>
        </p:txBody>
      </p:sp>
      <p:sp>
        <p:nvSpPr>
          <p:cNvPr id="7" name="Text 4">
            <a:hlinkClick r:id="rId3" action="ppaction://hlinksldjump" tooltip="Open Sign-in full size"/>
          </p:cNvPr>
          <p:cNvSpPr txBox="1"/>
          <p:nvPr/>
        </p:nvSpPr>
        <p:spPr>
          <a:xfrm>
            <a:off x="566928" y="3355848"/>
            <a:ext cx="2586152" cy="274320"/>
          </a:xfrm>
          <a:prstGeom prst="rect">
            <a:avLst/>
          </a:prstGeom>
          <a:noFill/>
          <a:ln/>
        </p:spPr>
        <p:txBody>
          <a:bodyPr wrap="square" lIns="0" tIns="0" rIns="0" bIns="0" rtlCol="0" anchor="ctr"/>
          <a:lstStyle/>
          <a:p>
            <a:pPr marL="0" indent="0" algn="ctr">
              <a:buNone/>
            </a:pPr>
            <a:r>
              <a:rPr lang="en-US" sz="1150" b="1" u="sng" dirty="0">
                <a:solidFill>
                  <a:srgbClr val="6B1F37"/>
                </a:solidFill>
                <a:hlinkClick r:id="rId3" action="ppaction://hlinksldjump" tooltip="Open Sign-in full size">
                  <a:extLst>
                    <a:ext uri="{A12FA001-AC4F-418D-AE19-62706E023703}">
                      <ahyp:hlinkClr xmlns:ahyp="http://schemas.microsoft.com/office/drawing/2018/hyperlinkcolor" val="tx"/>
                    </a:ext>
                  </a:extLst>
                </a:hlinkClick>
              </a:rPr>
              <a:t>Sign-in   ↗</a:t>
            </a:r>
            <a:endParaRPr lang="en-US" sz="1150" dirty="0"/>
          </a:p>
        </p:txBody>
      </p:sp>
      <p:sp>
        <p:nvSpPr>
          <p:cNvPr id="8" name="shot-1"/>
          <p:cNvSpPr/>
          <p:nvPr/>
        </p:nvSpPr>
        <p:spPr>
          <a:xfrm>
            <a:off x="3390824" y="1481328"/>
            <a:ext cx="2586152" cy="2258568"/>
          </a:xfrm>
          <a:prstGeom prst="roundRect">
            <a:avLst>
              <a:gd name="adj" fmla="val 2024"/>
            </a:avLst>
          </a:prstGeom>
          <a:solidFill>
            <a:srgbClr val="FFFFFF"/>
          </a:solidFill>
          <a:ln w="9525">
            <a:solidFill>
              <a:srgbClr val="E2DDD6"/>
            </a:solidFill>
            <a:prstDash val="dash"/>
          </a:ln>
        </p:spPr>
        <p:txBody>
          <a:bodyPr/>
          <a:lstStyle/>
          <a:p>
            <a:endParaRPr lang="en-US" dirty="0"/>
          </a:p>
        </p:txBody>
      </p:sp>
      <p:sp>
        <p:nvSpPr>
          <p:cNvPr id="9" name="Text 6"/>
          <p:cNvSpPr txBox="1"/>
          <p:nvPr/>
        </p:nvSpPr>
        <p:spPr>
          <a:xfrm>
            <a:off x="3390824" y="2226564"/>
            <a:ext cx="2586152" cy="274320"/>
          </a:xfrm>
          <a:prstGeom prst="rect">
            <a:avLst/>
          </a:prstGeom>
          <a:noFill/>
          <a:ln/>
        </p:spPr>
        <p:txBody>
          <a:bodyPr wrap="square" lIns="0" tIns="0" rIns="0" bIns="0" rtlCol="0" anchor="ctr"/>
          <a:lstStyle/>
          <a:p>
            <a:pPr marL="0" indent="0" algn="ctr">
              <a:buNone/>
            </a:pPr>
            <a:r>
              <a:rPr lang="en-US" sz="1000" i="1">
                <a:solidFill>
                  <a:srgbClr val="8B929C"/>
                </a:solidFill>
              </a:rPr>
              <a:t>drop screenshot here</a:t>
            </a:r>
            <a:endParaRPr lang="en-US" sz="1000" dirty="0"/>
          </a:p>
        </p:txBody>
      </p:sp>
      <p:sp>
        <p:nvSpPr>
          <p:cNvPr id="10" name="Text 7">
            <a:hlinkClick r:id="rId4" action="ppaction://hlinksldjump" tooltip="Open Dashboard full size"/>
          </p:cNvPr>
          <p:cNvSpPr txBox="1"/>
          <p:nvPr/>
        </p:nvSpPr>
        <p:spPr>
          <a:xfrm>
            <a:off x="3390824" y="3355848"/>
            <a:ext cx="2586152" cy="274320"/>
          </a:xfrm>
          <a:prstGeom prst="rect">
            <a:avLst/>
          </a:prstGeom>
          <a:noFill/>
          <a:ln/>
        </p:spPr>
        <p:txBody>
          <a:bodyPr wrap="square" lIns="0" tIns="0" rIns="0" bIns="0" rtlCol="0" anchor="ctr"/>
          <a:lstStyle/>
          <a:p>
            <a:pPr marL="0" indent="0" algn="ctr">
              <a:buNone/>
            </a:pPr>
            <a:r>
              <a:rPr lang="en-US" sz="1150" b="1" u="sng" dirty="0">
                <a:solidFill>
                  <a:srgbClr val="6B1F37"/>
                </a:solidFill>
                <a:hlinkClick r:id="rId4" action="ppaction://hlinksldjump" tooltip="Open Dashboard full size">
                  <a:extLst>
                    <a:ext uri="{A12FA001-AC4F-418D-AE19-62706E023703}">
                      <ahyp:hlinkClr xmlns:ahyp="http://schemas.microsoft.com/office/drawing/2018/hyperlinkcolor" val="tx"/>
                    </a:ext>
                  </a:extLst>
                </a:hlinkClick>
              </a:rPr>
              <a:t>Dashboard   ↗</a:t>
            </a:r>
            <a:endParaRPr lang="en-US" sz="1150" dirty="0"/>
          </a:p>
        </p:txBody>
      </p:sp>
      <p:sp>
        <p:nvSpPr>
          <p:cNvPr id="11" name="shot-2"/>
          <p:cNvSpPr/>
          <p:nvPr/>
        </p:nvSpPr>
        <p:spPr>
          <a:xfrm>
            <a:off x="6214720" y="1481328"/>
            <a:ext cx="2586152" cy="2258568"/>
          </a:xfrm>
          <a:prstGeom prst="roundRect">
            <a:avLst>
              <a:gd name="adj" fmla="val 2024"/>
            </a:avLst>
          </a:prstGeom>
          <a:solidFill>
            <a:srgbClr val="FFFFFF"/>
          </a:solidFill>
          <a:ln w="9525">
            <a:solidFill>
              <a:srgbClr val="E2DDD6"/>
            </a:solidFill>
            <a:prstDash val="dash"/>
          </a:ln>
        </p:spPr>
        <p:txBody>
          <a:bodyPr/>
          <a:lstStyle/>
          <a:p>
            <a:endParaRPr lang="en-US"/>
          </a:p>
        </p:txBody>
      </p:sp>
      <p:sp>
        <p:nvSpPr>
          <p:cNvPr id="12" name="Text 9"/>
          <p:cNvSpPr txBox="1"/>
          <p:nvPr/>
        </p:nvSpPr>
        <p:spPr>
          <a:xfrm>
            <a:off x="6214720" y="2226564"/>
            <a:ext cx="2586152" cy="274320"/>
          </a:xfrm>
          <a:prstGeom prst="rect">
            <a:avLst/>
          </a:prstGeom>
          <a:noFill/>
          <a:ln/>
        </p:spPr>
        <p:txBody>
          <a:bodyPr wrap="square" lIns="0" tIns="0" rIns="0" bIns="0" rtlCol="0" anchor="ctr"/>
          <a:lstStyle/>
          <a:p>
            <a:pPr marL="0" indent="0" algn="ctr">
              <a:buNone/>
            </a:pPr>
            <a:r>
              <a:rPr lang="en-US" sz="1000" i="1" dirty="0">
                <a:solidFill>
                  <a:srgbClr val="8B929C"/>
                </a:solidFill>
              </a:rPr>
              <a:t>drop screenshot here</a:t>
            </a:r>
            <a:endParaRPr lang="en-US" sz="1000" dirty="0"/>
          </a:p>
        </p:txBody>
      </p:sp>
      <p:sp>
        <p:nvSpPr>
          <p:cNvPr id="13" name="Text 10">
            <a:hlinkClick r:id="rId5" action="ppaction://hlinksldjump" tooltip="Open Historical rates full size"/>
          </p:cNvPr>
          <p:cNvSpPr txBox="1"/>
          <p:nvPr/>
        </p:nvSpPr>
        <p:spPr>
          <a:xfrm>
            <a:off x="6214720" y="3355848"/>
            <a:ext cx="2586152" cy="274320"/>
          </a:xfrm>
          <a:prstGeom prst="rect">
            <a:avLst/>
          </a:prstGeom>
          <a:noFill/>
          <a:ln/>
        </p:spPr>
        <p:txBody>
          <a:bodyPr wrap="square" lIns="0" tIns="0" rIns="0" bIns="0" rtlCol="0" anchor="ctr"/>
          <a:lstStyle/>
          <a:p>
            <a:pPr marL="0" indent="0" algn="ctr">
              <a:buNone/>
            </a:pPr>
            <a:r>
              <a:rPr lang="en-US" sz="1150" b="1" u="sng" dirty="0">
                <a:solidFill>
                  <a:srgbClr val="6B1F37"/>
                </a:solidFill>
                <a:hlinkClick r:id="rId5" action="ppaction://hlinksldjump" tooltip="Open Historical rates full size">
                  <a:extLst>
                    <a:ext uri="{A12FA001-AC4F-418D-AE19-62706E023703}">
                      <ahyp:hlinkClr xmlns:ahyp="http://schemas.microsoft.com/office/drawing/2018/hyperlinkcolor" val="tx"/>
                    </a:ext>
                  </a:extLst>
                </a:hlinkClick>
              </a:rPr>
              <a:t>Historical rates   ↗</a:t>
            </a:r>
            <a:endParaRPr lang="en-US" sz="1150" dirty="0"/>
          </a:p>
        </p:txBody>
      </p:sp>
      <p:sp>
        <p:nvSpPr>
          <p:cNvPr id="14" name="shot-3"/>
          <p:cNvSpPr/>
          <p:nvPr/>
        </p:nvSpPr>
        <p:spPr>
          <a:xfrm>
            <a:off x="9038615" y="1481328"/>
            <a:ext cx="2586152" cy="2258568"/>
          </a:xfrm>
          <a:prstGeom prst="roundRect">
            <a:avLst>
              <a:gd name="adj" fmla="val 2024"/>
            </a:avLst>
          </a:prstGeom>
          <a:solidFill>
            <a:srgbClr val="FFFFFF"/>
          </a:solidFill>
          <a:ln w="9525">
            <a:solidFill>
              <a:srgbClr val="E2DDD6"/>
            </a:solidFill>
            <a:prstDash val="dash"/>
          </a:ln>
        </p:spPr>
        <p:txBody>
          <a:bodyPr/>
          <a:lstStyle/>
          <a:p>
            <a:endParaRPr lang="en-US"/>
          </a:p>
        </p:txBody>
      </p:sp>
      <p:sp>
        <p:nvSpPr>
          <p:cNvPr id="15" name="Text 12"/>
          <p:cNvSpPr txBox="1"/>
          <p:nvPr/>
        </p:nvSpPr>
        <p:spPr>
          <a:xfrm>
            <a:off x="9038615" y="2226564"/>
            <a:ext cx="2586152" cy="274320"/>
          </a:xfrm>
          <a:prstGeom prst="rect">
            <a:avLst/>
          </a:prstGeom>
          <a:noFill/>
          <a:ln/>
        </p:spPr>
        <p:txBody>
          <a:bodyPr wrap="square" lIns="0" tIns="0" rIns="0" bIns="0" rtlCol="0" anchor="ctr"/>
          <a:lstStyle/>
          <a:p>
            <a:pPr marL="0" indent="0" algn="ctr">
              <a:buNone/>
            </a:pPr>
            <a:r>
              <a:rPr lang="en-US" sz="1000" i="1" dirty="0">
                <a:solidFill>
                  <a:srgbClr val="8B929C"/>
                </a:solidFill>
              </a:rPr>
              <a:t>drop screenshot here</a:t>
            </a:r>
            <a:endParaRPr lang="en-US" sz="1000" dirty="0"/>
          </a:p>
        </p:txBody>
      </p:sp>
      <p:sp>
        <p:nvSpPr>
          <p:cNvPr id="16" name="Text 13">
            <a:hlinkClick r:id="rId6" action="ppaction://hlinksldjump" tooltip="Open Validate a rate full size"/>
          </p:cNvPr>
          <p:cNvSpPr txBox="1"/>
          <p:nvPr/>
        </p:nvSpPr>
        <p:spPr>
          <a:xfrm>
            <a:off x="9038615" y="3355848"/>
            <a:ext cx="2586152" cy="274320"/>
          </a:xfrm>
          <a:prstGeom prst="rect">
            <a:avLst/>
          </a:prstGeom>
          <a:noFill/>
          <a:ln/>
        </p:spPr>
        <p:txBody>
          <a:bodyPr wrap="square" lIns="0" tIns="0" rIns="0" bIns="0" rtlCol="0" anchor="ctr"/>
          <a:lstStyle/>
          <a:p>
            <a:pPr marL="0" indent="0" algn="ctr">
              <a:buNone/>
            </a:pPr>
            <a:r>
              <a:rPr lang="en-US" sz="1150" b="1" u="sng" dirty="0">
                <a:solidFill>
                  <a:srgbClr val="6B1F37"/>
                </a:solidFill>
                <a:hlinkClick r:id="rId6" action="ppaction://hlinksldjump" tooltip="Open Validate a rate full size">
                  <a:extLst>
                    <a:ext uri="{A12FA001-AC4F-418D-AE19-62706E023703}">
                      <ahyp:hlinkClr xmlns:ahyp="http://schemas.microsoft.com/office/drawing/2018/hyperlinkcolor" val="tx"/>
                    </a:ext>
                  </a:extLst>
                </a:hlinkClick>
              </a:rPr>
              <a:t>Validate a rate   ↗</a:t>
            </a:r>
            <a:endParaRPr lang="en-US" sz="1150" dirty="0"/>
          </a:p>
        </p:txBody>
      </p:sp>
      <p:sp>
        <p:nvSpPr>
          <p:cNvPr id="17" name="shot-4"/>
          <p:cNvSpPr/>
          <p:nvPr/>
        </p:nvSpPr>
        <p:spPr>
          <a:xfrm>
            <a:off x="566928" y="4014216"/>
            <a:ext cx="2586152" cy="2258568"/>
          </a:xfrm>
          <a:prstGeom prst="roundRect">
            <a:avLst>
              <a:gd name="adj" fmla="val 2024"/>
            </a:avLst>
          </a:prstGeom>
          <a:solidFill>
            <a:srgbClr val="FFFFFF"/>
          </a:solidFill>
          <a:ln w="9525">
            <a:solidFill>
              <a:srgbClr val="E2DDD6"/>
            </a:solidFill>
            <a:prstDash val="dash"/>
          </a:ln>
        </p:spPr>
        <p:txBody>
          <a:bodyPr/>
          <a:lstStyle/>
          <a:p>
            <a:endParaRPr lang="en-US"/>
          </a:p>
        </p:txBody>
      </p:sp>
      <p:sp>
        <p:nvSpPr>
          <p:cNvPr id="18" name="Text 15"/>
          <p:cNvSpPr txBox="1"/>
          <p:nvPr/>
        </p:nvSpPr>
        <p:spPr>
          <a:xfrm>
            <a:off x="566928" y="4759452"/>
            <a:ext cx="2586152" cy="274320"/>
          </a:xfrm>
          <a:prstGeom prst="rect">
            <a:avLst/>
          </a:prstGeom>
          <a:noFill/>
          <a:ln/>
        </p:spPr>
        <p:txBody>
          <a:bodyPr wrap="square" lIns="0" tIns="0" rIns="0" bIns="0" rtlCol="0" anchor="ctr"/>
          <a:lstStyle/>
          <a:p>
            <a:pPr marL="0" indent="0" algn="ctr">
              <a:buNone/>
            </a:pPr>
            <a:r>
              <a:rPr lang="en-US" sz="1000" i="1" dirty="0">
                <a:solidFill>
                  <a:srgbClr val="8B929C"/>
                </a:solidFill>
              </a:rPr>
              <a:t>drop screenshot here</a:t>
            </a:r>
            <a:endParaRPr lang="en-US" sz="1000" dirty="0"/>
          </a:p>
        </p:txBody>
      </p:sp>
      <p:sp>
        <p:nvSpPr>
          <p:cNvPr id="19" name="Text 16">
            <a:hlinkClick r:id="rId7" action="ppaction://hlinksldjump" tooltip="Open Prediction full size"/>
          </p:cNvPr>
          <p:cNvSpPr txBox="1"/>
          <p:nvPr/>
        </p:nvSpPr>
        <p:spPr>
          <a:xfrm>
            <a:off x="566928" y="5888736"/>
            <a:ext cx="2586152" cy="274320"/>
          </a:xfrm>
          <a:prstGeom prst="rect">
            <a:avLst/>
          </a:prstGeom>
          <a:noFill/>
          <a:ln/>
        </p:spPr>
        <p:txBody>
          <a:bodyPr wrap="square" lIns="0" tIns="0" rIns="0" bIns="0" rtlCol="0" anchor="ctr"/>
          <a:lstStyle/>
          <a:p>
            <a:pPr marL="0" indent="0" algn="ctr">
              <a:buNone/>
            </a:pPr>
            <a:r>
              <a:rPr lang="en-US" sz="1150" b="1" u="sng" dirty="0">
                <a:solidFill>
                  <a:srgbClr val="6B1F37"/>
                </a:solidFill>
                <a:hlinkClick r:id="rId7" action="ppaction://hlinksldjump" tooltip="Open Prediction full size">
                  <a:extLst>
                    <a:ext uri="{A12FA001-AC4F-418D-AE19-62706E023703}">
                      <ahyp:hlinkClr xmlns:ahyp="http://schemas.microsoft.com/office/drawing/2018/hyperlinkcolor" val="tx"/>
                    </a:ext>
                  </a:extLst>
                </a:hlinkClick>
              </a:rPr>
              <a:t>Prediction   ↗</a:t>
            </a:r>
            <a:endParaRPr lang="en-US" sz="1150" dirty="0"/>
          </a:p>
        </p:txBody>
      </p:sp>
      <p:sp>
        <p:nvSpPr>
          <p:cNvPr id="20" name="shot-5"/>
          <p:cNvSpPr/>
          <p:nvPr/>
        </p:nvSpPr>
        <p:spPr>
          <a:xfrm>
            <a:off x="3390824" y="4014216"/>
            <a:ext cx="2586152" cy="2258568"/>
          </a:xfrm>
          <a:prstGeom prst="roundRect">
            <a:avLst>
              <a:gd name="adj" fmla="val 2024"/>
            </a:avLst>
          </a:prstGeom>
          <a:solidFill>
            <a:srgbClr val="FFFFFF"/>
          </a:solidFill>
          <a:ln w="9525">
            <a:solidFill>
              <a:srgbClr val="E2DDD6"/>
            </a:solidFill>
            <a:prstDash val="dash"/>
          </a:ln>
        </p:spPr>
        <p:txBody>
          <a:bodyPr/>
          <a:lstStyle/>
          <a:p>
            <a:endParaRPr lang="en-US"/>
          </a:p>
        </p:txBody>
      </p:sp>
      <p:sp>
        <p:nvSpPr>
          <p:cNvPr id="21" name="Text 18"/>
          <p:cNvSpPr txBox="1"/>
          <p:nvPr/>
        </p:nvSpPr>
        <p:spPr>
          <a:xfrm>
            <a:off x="3390824" y="4759452"/>
            <a:ext cx="2586152" cy="274320"/>
          </a:xfrm>
          <a:prstGeom prst="rect">
            <a:avLst/>
          </a:prstGeom>
          <a:noFill/>
          <a:ln/>
        </p:spPr>
        <p:txBody>
          <a:bodyPr wrap="square" lIns="0" tIns="0" rIns="0" bIns="0" rtlCol="0" anchor="ctr"/>
          <a:lstStyle/>
          <a:p>
            <a:pPr marL="0" indent="0" algn="ctr">
              <a:buNone/>
            </a:pPr>
            <a:r>
              <a:rPr lang="en-US" sz="1000" i="1" dirty="0">
                <a:solidFill>
                  <a:srgbClr val="8B929C"/>
                </a:solidFill>
              </a:rPr>
              <a:t>drop screenshot here</a:t>
            </a:r>
            <a:endParaRPr lang="en-US" sz="1000" dirty="0"/>
          </a:p>
        </p:txBody>
      </p:sp>
      <p:sp>
        <p:nvSpPr>
          <p:cNvPr id="22" name="Text 19">
            <a:hlinkClick r:id="rId8" action="ppaction://hlinksldjump" tooltip="Open Model artefacts full size"/>
          </p:cNvPr>
          <p:cNvSpPr txBox="1"/>
          <p:nvPr/>
        </p:nvSpPr>
        <p:spPr>
          <a:xfrm>
            <a:off x="3390824" y="5888736"/>
            <a:ext cx="2586152" cy="274320"/>
          </a:xfrm>
          <a:prstGeom prst="rect">
            <a:avLst/>
          </a:prstGeom>
          <a:noFill/>
          <a:ln/>
        </p:spPr>
        <p:txBody>
          <a:bodyPr wrap="square" lIns="0" tIns="0" rIns="0" bIns="0" rtlCol="0" anchor="ctr"/>
          <a:lstStyle/>
          <a:p>
            <a:pPr marL="0" indent="0" algn="ctr">
              <a:buNone/>
            </a:pPr>
            <a:r>
              <a:rPr lang="en-US" sz="1150" b="1" u="sng" dirty="0">
                <a:solidFill>
                  <a:srgbClr val="6B1F37"/>
                </a:solidFill>
                <a:hlinkClick r:id="rId8" action="ppaction://hlinksldjump" tooltip="Open Model artefacts full size">
                  <a:extLst>
                    <a:ext uri="{A12FA001-AC4F-418D-AE19-62706E023703}">
                      <ahyp:hlinkClr xmlns:ahyp="http://schemas.microsoft.com/office/drawing/2018/hyperlinkcolor" val="tx"/>
                    </a:ext>
                  </a:extLst>
                </a:hlinkClick>
              </a:rPr>
              <a:t>Model artefacts   ↗</a:t>
            </a:r>
            <a:endParaRPr lang="en-US" sz="1150" dirty="0"/>
          </a:p>
        </p:txBody>
      </p:sp>
      <p:sp>
        <p:nvSpPr>
          <p:cNvPr id="23" name="shot-6"/>
          <p:cNvSpPr/>
          <p:nvPr/>
        </p:nvSpPr>
        <p:spPr>
          <a:xfrm>
            <a:off x="6214720" y="4014216"/>
            <a:ext cx="2586152" cy="2258568"/>
          </a:xfrm>
          <a:prstGeom prst="roundRect">
            <a:avLst>
              <a:gd name="adj" fmla="val 2024"/>
            </a:avLst>
          </a:prstGeom>
          <a:solidFill>
            <a:srgbClr val="FFFFFF"/>
          </a:solidFill>
          <a:ln w="9525">
            <a:solidFill>
              <a:srgbClr val="E2DDD6"/>
            </a:solidFill>
            <a:prstDash val="dash"/>
          </a:ln>
        </p:spPr>
        <p:txBody>
          <a:bodyPr/>
          <a:lstStyle/>
          <a:p>
            <a:endParaRPr lang="en-US"/>
          </a:p>
        </p:txBody>
      </p:sp>
      <p:sp>
        <p:nvSpPr>
          <p:cNvPr id="24" name="Text 21"/>
          <p:cNvSpPr txBox="1"/>
          <p:nvPr/>
        </p:nvSpPr>
        <p:spPr>
          <a:xfrm>
            <a:off x="6214720" y="4759452"/>
            <a:ext cx="2586152" cy="274320"/>
          </a:xfrm>
          <a:prstGeom prst="rect">
            <a:avLst/>
          </a:prstGeom>
          <a:noFill/>
          <a:ln/>
        </p:spPr>
        <p:txBody>
          <a:bodyPr wrap="square" lIns="0" tIns="0" rIns="0" bIns="0" rtlCol="0" anchor="ctr"/>
          <a:lstStyle/>
          <a:p>
            <a:pPr marL="0" indent="0" algn="ctr">
              <a:buNone/>
            </a:pPr>
            <a:r>
              <a:rPr lang="en-US" sz="1000" i="1" dirty="0">
                <a:solidFill>
                  <a:srgbClr val="8B929C"/>
                </a:solidFill>
              </a:rPr>
              <a:t>drop screenshot here</a:t>
            </a:r>
            <a:endParaRPr lang="en-US" sz="1000" dirty="0"/>
          </a:p>
        </p:txBody>
      </p:sp>
      <p:sp>
        <p:nvSpPr>
          <p:cNvPr id="25" name="Text 22">
            <a:hlinkClick r:id="rId9" action="ppaction://hlinksldjump" tooltip="Open Alerts full size"/>
          </p:cNvPr>
          <p:cNvSpPr txBox="1"/>
          <p:nvPr/>
        </p:nvSpPr>
        <p:spPr>
          <a:xfrm>
            <a:off x="6214720" y="5888736"/>
            <a:ext cx="2586152" cy="274320"/>
          </a:xfrm>
          <a:prstGeom prst="rect">
            <a:avLst/>
          </a:prstGeom>
          <a:noFill/>
          <a:ln/>
        </p:spPr>
        <p:txBody>
          <a:bodyPr wrap="square" lIns="0" tIns="0" rIns="0" bIns="0" rtlCol="0" anchor="ctr"/>
          <a:lstStyle/>
          <a:p>
            <a:pPr marL="0" indent="0" algn="ctr">
              <a:buNone/>
            </a:pPr>
            <a:r>
              <a:rPr lang="en-US" sz="1150" b="1" u="sng" dirty="0">
                <a:solidFill>
                  <a:srgbClr val="6B1F37"/>
                </a:solidFill>
                <a:hlinkClick r:id="rId9" action="ppaction://hlinksldjump" tooltip="Open Alerts full size">
                  <a:extLst>
                    <a:ext uri="{A12FA001-AC4F-418D-AE19-62706E023703}">
                      <ahyp:hlinkClr xmlns:ahyp="http://schemas.microsoft.com/office/drawing/2018/hyperlinkcolor" val="tx"/>
                    </a:ext>
                  </a:extLst>
                </a:hlinkClick>
              </a:rPr>
              <a:t>Alerts   ↗</a:t>
            </a:r>
            <a:endParaRPr lang="en-US" sz="1150" dirty="0"/>
          </a:p>
        </p:txBody>
      </p:sp>
      <p:sp>
        <p:nvSpPr>
          <p:cNvPr id="26" name="shot-7"/>
          <p:cNvSpPr/>
          <p:nvPr/>
        </p:nvSpPr>
        <p:spPr>
          <a:xfrm>
            <a:off x="9038615" y="4014216"/>
            <a:ext cx="2586152" cy="2258568"/>
          </a:xfrm>
          <a:prstGeom prst="roundRect">
            <a:avLst>
              <a:gd name="adj" fmla="val 2024"/>
            </a:avLst>
          </a:prstGeom>
          <a:solidFill>
            <a:srgbClr val="FFFFFF"/>
          </a:solidFill>
          <a:ln w="9525">
            <a:solidFill>
              <a:srgbClr val="E2DDD6"/>
            </a:solidFill>
            <a:prstDash val="dash"/>
          </a:ln>
        </p:spPr>
        <p:txBody>
          <a:bodyPr/>
          <a:lstStyle/>
          <a:p>
            <a:endParaRPr lang="en-US"/>
          </a:p>
        </p:txBody>
      </p:sp>
      <p:sp>
        <p:nvSpPr>
          <p:cNvPr id="27" name="Text 24"/>
          <p:cNvSpPr txBox="1"/>
          <p:nvPr/>
        </p:nvSpPr>
        <p:spPr>
          <a:xfrm>
            <a:off x="9038615" y="4759452"/>
            <a:ext cx="2586152" cy="274320"/>
          </a:xfrm>
          <a:prstGeom prst="rect">
            <a:avLst/>
          </a:prstGeom>
          <a:noFill/>
          <a:ln/>
        </p:spPr>
        <p:txBody>
          <a:bodyPr wrap="square" lIns="0" tIns="0" rIns="0" bIns="0" rtlCol="0" anchor="ctr"/>
          <a:lstStyle/>
          <a:p>
            <a:pPr marL="0" indent="0" algn="ctr">
              <a:buNone/>
            </a:pPr>
            <a:r>
              <a:rPr lang="en-US" sz="1000" i="1" dirty="0">
                <a:solidFill>
                  <a:srgbClr val="8B929C"/>
                </a:solidFill>
              </a:rPr>
              <a:t>drop screenshot here</a:t>
            </a:r>
            <a:endParaRPr lang="en-US" sz="1000" dirty="0"/>
          </a:p>
        </p:txBody>
      </p:sp>
      <p:sp>
        <p:nvSpPr>
          <p:cNvPr id="28" name="Text 25">
            <a:hlinkClick r:id="rId10" action="ppaction://hlinksldjump" tooltip="Open ArgoCD full size"/>
          </p:cNvPr>
          <p:cNvSpPr txBox="1"/>
          <p:nvPr/>
        </p:nvSpPr>
        <p:spPr>
          <a:xfrm>
            <a:off x="9038615" y="5888736"/>
            <a:ext cx="2586152" cy="274320"/>
          </a:xfrm>
          <a:prstGeom prst="rect">
            <a:avLst/>
          </a:prstGeom>
          <a:noFill/>
          <a:ln/>
        </p:spPr>
        <p:txBody>
          <a:bodyPr wrap="square" lIns="0" tIns="0" rIns="0" bIns="0" rtlCol="0" anchor="ctr"/>
          <a:lstStyle/>
          <a:p>
            <a:pPr marL="0" indent="0" algn="ctr">
              <a:buNone/>
            </a:pPr>
            <a:r>
              <a:rPr lang="en-US" sz="1150" b="1" u="sng" dirty="0">
                <a:solidFill>
                  <a:srgbClr val="6B1F37"/>
                </a:solidFill>
                <a:hlinkClick r:id="rId10" action="ppaction://hlinksldjump" tooltip="Open ArgoCD full size">
                  <a:extLst>
                    <a:ext uri="{A12FA001-AC4F-418D-AE19-62706E023703}">
                      <ahyp:hlinkClr xmlns:ahyp="http://schemas.microsoft.com/office/drawing/2018/hyperlinkcolor" val="tx"/>
                    </a:ext>
                  </a:extLst>
                </a:hlinkClick>
              </a:rPr>
              <a:t>ArgoCD   ↗</a:t>
            </a:r>
            <a:endParaRPr lang="en-US" sz="1150" dirty="0"/>
          </a:p>
        </p:txBody>
      </p:sp>
      <p:sp>
        <p:nvSpPr>
          <p:cNvPr id="29" name="Text 26"/>
          <p:cNvSpPr txBox="1"/>
          <p:nvPr/>
        </p:nvSpPr>
        <p:spPr>
          <a:xfrm>
            <a:off x="566928" y="6291072"/>
            <a:ext cx="11057839" cy="274320"/>
          </a:xfrm>
          <a:prstGeom prst="rect">
            <a:avLst/>
          </a:prstGeom>
          <a:noFill/>
          <a:ln/>
        </p:spPr>
        <p:txBody>
          <a:bodyPr wrap="square" lIns="0" tIns="0" rIns="0" bIns="0" rtlCol="0" anchor="ctr"/>
          <a:lstStyle/>
          <a:p>
            <a:pPr marL="0" indent="0" algn="ctr">
              <a:buNone/>
            </a:pPr>
            <a:r>
              <a:rPr lang="en-US" sz="1050" i="1" dirty="0">
                <a:solidFill>
                  <a:srgbClr val="8B929C"/>
                </a:solidFill>
              </a:rPr>
              <a:t>Every label is a link — click one to open that screen full size, then click “back” to return here.</a:t>
            </a:r>
            <a:endParaRPr lang="en-US" sz="1050" dirty="0"/>
          </a:p>
        </p:txBody>
      </p:sp>
      <p:sp>
        <p:nvSpPr>
          <p:cNvPr id="4"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18</a:t>
            </a:fld>
            <a:endParaRPr lang="en-US"/>
          </a:p>
        </p:txBody>
      </p:sp>
      <p:pic>
        <p:nvPicPr>
          <p:cNvPr id="30" name="Picture 29">
            <a:extLst>
              <a:ext uri="{FF2B5EF4-FFF2-40B4-BE49-F238E27FC236}">
                <a16:creationId xmlns:a16="http://schemas.microsoft.com/office/drawing/2014/main" id="{E4BC0F8B-0F30-AE5E-2422-AAEE96378F3B}"/>
              </a:ext>
            </a:extLst>
          </p:cNvPr>
          <p:cNvPicPr>
            <a:picLocks noChangeAspect="1"/>
          </p:cNvPicPr>
          <p:nvPr/>
        </p:nvPicPr>
        <p:blipFill>
          <a:blip r:embed="rId11"/>
          <a:stretch>
            <a:fillRect/>
          </a:stretch>
        </p:blipFill>
        <p:spPr>
          <a:xfrm>
            <a:off x="640080" y="1808626"/>
            <a:ext cx="2439848" cy="1219924"/>
          </a:xfrm>
          <a:prstGeom prst="rect">
            <a:avLst/>
          </a:prstGeom>
        </p:spPr>
      </p:pic>
      <p:pic>
        <p:nvPicPr>
          <p:cNvPr id="31" name="Picture 30">
            <a:extLst>
              <a:ext uri="{FF2B5EF4-FFF2-40B4-BE49-F238E27FC236}">
                <a16:creationId xmlns:a16="http://schemas.microsoft.com/office/drawing/2014/main" id="{EA8DE95F-0F91-40BF-6473-FC33F8B976A0}"/>
              </a:ext>
            </a:extLst>
          </p:cNvPr>
          <p:cNvPicPr>
            <a:picLocks noChangeAspect="1"/>
          </p:cNvPicPr>
          <p:nvPr/>
        </p:nvPicPr>
        <p:blipFill>
          <a:blip r:embed="rId12"/>
          <a:stretch>
            <a:fillRect/>
          </a:stretch>
        </p:blipFill>
        <p:spPr>
          <a:xfrm>
            <a:off x="9111767" y="1808626"/>
            <a:ext cx="2439848" cy="1219924"/>
          </a:xfrm>
          <a:prstGeom prst="rect">
            <a:avLst/>
          </a:prstGeom>
        </p:spPr>
      </p:pic>
      <p:pic>
        <p:nvPicPr>
          <p:cNvPr id="32" name="Picture 31">
            <a:extLst>
              <a:ext uri="{FF2B5EF4-FFF2-40B4-BE49-F238E27FC236}">
                <a16:creationId xmlns:a16="http://schemas.microsoft.com/office/drawing/2014/main" id="{3143A576-2F88-F514-A5DA-6B98FCEC087A}"/>
              </a:ext>
            </a:extLst>
          </p:cNvPr>
          <p:cNvPicPr>
            <a:picLocks noChangeAspect="1"/>
          </p:cNvPicPr>
          <p:nvPr/>
        </p:nvPicPr>
        <p:blipFill>
          <a:blip r:embed="rId13"/>
          <a:stretch>
            <a:fillRect/>
          </a:stretch>
        </p:blipFill>
        <p:spPr>
          <a:xfrm>
            <a:off x="3463976" y="1808626"/>
            <a:ext cx="2439848" cy="1219924"/>
          </a:xfrm>
          <a:prstGeom prst="rect">
            <a:avLst/>
          </a:prstGeom>
        </p:spPr>
      </p:pic>
      <p:pic>
        <p:nvPicPr>
          <p:cNvPr id="33" name="Picture 32">
            <a:extLst>
              <a:ext uri="{FF2B5EF4-FFF2-40B4-BE49-F238E27FC236}">
                <a16:creationId xmlns:a16="http://schemas.microsoft.com/office/drawing/2014/main" id="{473ECA83-0060-6028-F3EC-B5B797E72945}"/>
              </a:ext>
            </a:extLst>
          </p:cNvPr>
          <p:cNvPicPr>
            <a:picLocks noChangeAspect="1"/>
          </p:cNvPicPr>
          <p:nvPr/>
        </p:nvPicPr>
        <p:blipFill>
          <a:blip r:embed="rId14"/>
          <a:stretch>
            <a:fillRect/>
          </a:stretch>
        </p:blipFill>
        <p:spPr>
          <a:xfrm>
            <a:off x="6287872" y="1808626"/>
            <a:ext cx="2439848" cy="1219924"/>
          </a:xfrm>
          <a:prstGeom prst="rect">
            <a:avLst/>
          </a:prstGeom>
        </p:spPr>
      </p:pic>
      <p:pic>
        <p:nvPicPr>
          <p:cNvPr id="34" name="Picture 33">
            <a:extLst>
              <a:ext uri="{FF2B5EF4-FFF2-40B4-BE49-F238E27FC236}">
                <a16:creationId xmlns:a16="http://schemas.microsoft.com/office/drawing/2014/main" id="{C0ADD552-998B-99DB-8512-41FE014AFC72}"/>
              </a:ext>
            </a:extLst>
          </p:cNvPr>
          <p:cNvPicPr>
            <a:picLocks noChangeAspect="1"/>
          </p:cNvPicPr>
          <p:nvPr/>
        </p:nvPicPr>
        <p:blipFill>
          <a:blip r:embed="rId15"/>
          <a:stretch>
            <a:fillRect/>
          </a:stretch>
        </p:blipFill>
        <p:spPr>
          <a:xfrm>
            <a:off x="640080" y="4341514"/>
            <a:ext cx="2439848" cy="1219924"/>
          </a:xfrm>
          <a:prstGeom prst="rect">
            <a:avLst/>
          </a:prstGeom>
        </p:spPr>
      </p:pic>
      <p:pic>
        <p:nvPicPr>
          <p:cNvPr id="35" name="Picture 34">
            <a:extLst>
              <a:ext uri="{FF2B5EF4-FFF2-40B4-BE49-F238E27FC236}">
                <a16:creationId xmlns:a16="http://schemas.microsoft.com/office/drawing/2014/main" id="{EFCB7A1A-91DF-708B-270C-88494AD1D0F7}"/>
              </a:ext>
            </a:extLst>
          </p:cNvPr>
          <p:cNvPicPr>
            <a:picLocks noChangeAspect="1"/>
          </p:cNvPicPr>
          <p:nvPr/>
        </p:nvPicPr>
        <p:blipFill>
          <a:blip r:embed="rId16"/>
          <a:stretch>
            <a:fillRect/>
          </a:stretch>
        </p:blipFill>
        <p:spPr>
          <a:xfrm>
            <a:off x="3463976" y="4341514"/>
            <a:ext cx="2439848" cy="1219924"/>
          </a:xfrm>
          <a:prstGeom prst="rect">
            <a:avLst/>
          </a:prstGeom>
        </p:spPr>
      </p:pic>
      <p:pic>
        <p:nvPicPr>
          <p:cNvPr id="36" name="Picture 35">
            <a:extLst>
              <a:ext uri="{FF2B5EF4-FFF2-40B4-BE49-F238E27FC236}">
                <a16:creationId xmlns:a16="http://schemas.microsoft.com/office/drawing/2014/main" id="{7C244F01-FB0A-B74D-713E-CEDD8EC4988C}"/>
              </a:ext>
            </a:extLst>
          </p:cNvPr>
          <p:cNvPicPr>
            <a:picLocks noChangeAspect="1"/>
          </p:cNvPicPr>
          <p:nvPr/>
        </p:nvPicPr>
        <p:blipFill>
          <a:blip r:embed="rId17"/>
          <a:stretch>
            <a:fillRect/>
          </a:stretch>
        </p:blipFill>
        <p:spPr>
          <a:xfrm>
            <a:off x="6287872" y="4341514"/>
            <a:ext cx="2439848" cy="1219924"/>
          </a:xfrm>
          <a:prstGeom prst="rect">
            <a:avLst/>
          </a:prstGeom>
        </p:spPr>
      </p:pic>
      <p:pic>
        <p:nvPicPr>
          <p:cNvPr id="37" name="Picture 36">
            <a:extLst>
              <a:ext uri="{FF2B5EF4-FFF2-40B4-BE49-F238E27FC236}">
                <a16:creationId xmlns:a16="http://schemas.microsoft.com/office/drawing/2014/main" id="{EF33DD24-6957-960D-F338-A663449E7213}"/>
              </a:ext>
            </a:extLst>
          </p:cNvPr>
          <p:cNvPicPr>
            <a:picLocks noChangeAspect="1"/>
          </p:cNvPicPr>
          <p:nvPr/>
        </p:nvPicPr>
        <p:blipFill>
          <a:blip r:embed="rId18"/>
          <a:stretch>
            <a:fillRect/>
          </a:stretch>
        </p:blipFill>
        <p:spPr>
          <a:xfrm>
            <a:off x="9111767" y="4341514"/>
            <a:ext cx="2439848" cy="121992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2286000"/>
            <a:ext cx="11057839" cy="384048"/>
          </a:xfrm>
          <a:prstGeom prst="rect">
            <a:avLst/>
          </a:prstGeom>
          <a:noFill/>
          <a:ln/>
        </p:spPr>
        <p:txBody>
          <a:bodyPr wrap="square" rtlCol="0"/>
          <a:lstStyle/>
          <a:p>
            <a:pPr marL="0" indent="0" algn="l">
              <a:buNone/>
            </a:pPr>
            <a:r>
              <a:rPr lang="en-US" sz="1300" b="1" kern="0" spc="240" dirty="0">
                <a:solidFill>
                  <a:srgbClr val="E0B9C6"/>
                </a:solidFill>
              </a:rPr>
              <a:t>PART THREE</a:t>
            </a:r>
            <a:endParaRPr lang="en-US" sz="1300" dirty="0"/>
          </a:p>
        </p:txBody>
      </p:sp>
      <p:sp>
        <p:nvSpPr>
          <p:cNvPr id="3" name="Text 0"/>
          <p:cNvSpPr>
            <a:spLocks noGrp="1"/>
          </p:cNvSpPr>
          <p:nvPr>
            <p:ph type="title" idx="101" hasCustomPrompt="1"/>
          </p:nvPr>
        </p:nvSpPr>
        <p:spPr>
          <a:xfrm>
            <a:off x="566928" y="2743200"/>
            <a:ext cx="8595360" cy="1188720"/>
          </a:xfrm>
          <a:prstGeom prst="rect">
            <a:avLst/>
          </a:prstGeom>
          <a:noFill/>
          <a:ln/>
        </p:spPr>
        <p:txBody>
          <a:bodyPr wrap="square" rtlCol="0"/>
          <a:lstStyle/>
          <a:p>
            <a:pPr marL="0" indent="0" algn="l">
              <a:buNone/>
            </a:pPr>
            <a:r>
              <a:rPr lang="en-US" sz="4400" b="1" dirty="0">
                <a:solidFill>
                  <a:srgbClr val="FFFFFF"/>
                </a:solidFill>
              </a:rPr>
              <a:t>Getting your first job</a:t>
            </a:r>
            <a:endParaRPr lang="en-US" sz="4400" dirty="0"/>
          </a:p>
        </p:txBody>
      </p:sp>
      <p:sp>
        <p:nvSpPr>
          <p:cNvPr id="4" name="Text 0"/>
          <p:cNvSpPr>
            <a:spLocks noGrp="1"/>
          </p:cNvSpPr>
          <p:nvPr>
            <p:ph type="body" idx="102" hasCustomPrompt="1"/>
          </p:nvPr>
        </p:nvSpPr>
        <p:spPr>
          <a:xfrm>
            <a:off x="566928" y="3977640"/>
            <a:ext cx="7680960" cy="822960"/>
          </a:xfrm>
          <a:prstGeom prst="rect">
            <a:avLst/>
          </a:prstGeom>
          <a:noFill/>
          <a:ln/>
        </p:spPr>
        <p:txBody>
          <a:bodyPr wrap="square" rtlCol="0"/>
          <a:lstStyle/>
          <a:p>
            <a:pPr marL="0" indent="0" algn="l">
              <a:buNone/>
            </a:pPr>
            <a:r>
              <a:rPr lang="en-US" sz="1800" dirty="0">
                <a:solidFill>
                  <a:srgbClr val="B9BEC6"/>
                </a:solidFill>
              </a:rPr>
              <a:t>What to learn, what to build, and how to talk about it.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THREE · SKILLS</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The short list that actually matters</a:t>
            </a:r>
            <a:endParaRPr lang="en-US" sz="3200" dirty="0"/>
          </a:p>
        </p:txBody>
      </p:sp>
      <p:sp>
        <p:nvSpPr>
          <p:cNvPr id="5" name="Text 2"/>
          <p:cNvSpPr txBox="1"/>
          <p:nvPr/>
        </p:nvSpPr>
        <p:spPr>
          <a:xfrm>
            <a:off x="566928" y="1481328"/>
            <a:ext cx="5394960" cy="4791456"/>
          </a:xfrm>
          <a:prstGeom prst="rect">
            <a:avLst/>
          </a:prstGeom>
          <a:noFill/>
          <a:ln/>
        </p:spPr>
        <p:txBody>
          <a:bodyPr wrap="square" lIns="0" tIns="0" rIns="0" bIns="0" rtlCol="0" anchor="ctr"/>
          <a:lstStyle/>
          <a:p>
            <a:pPr marL="342900" indent="-342900">
              <a:lnSpc>
                <a:spcPct val="108000"/>
              </a:lnSpc>
              <a:spcAft>
                <a:spcPts val="300"/>
              </a:spcAft>
              <a:buSzPct val="100000"/>
              <a:buChar char="●"/>
            </a:pPr>
            <a:r>
              <a:rPr lang="en-US" sz="1700" b="1" dirty="0">
                <a:solidFill>
                  <a:srgbClr val="1C1F24"/>
                </a:solidFill>
              </a:rPr>
              <a:t>SQL, properly</a:t>
            </a:r>
            <a:endParaRPr lang="en-US" sz="1700" dirty="0"/>
          </a:p>
          <a:p>
            <a:pPr marL="0" lvl="1" indent="0">
              <a:lnSpc>
                <a:spcPct val="108000"/>
              </a:lnSpc>
              <a:spcAft>
                <a:spcPts val="1800"/>
              </a:spcAft>
              <a:buNone/>
            </a:pPr>
            <a:r>
              <a:rPr lang="en-US" sz="1400" dirty="0">
                <a:solidFill>
                  <a:srgbClr val="5F6772"/>
                </a:solidFill>
              </a:rPr>
              <a:t>Joins, window functions, query plans, indexes. Not “I have used SELECT”.</a:t>
            </a:r>
            <a:endParaRPr lang="en-US" sz="1700" dirty="0"/>
          </a:p>
          <a:p>
            <a:pPr marL="342900" indent="-342900">
              <a:lnSpc>
                <a:spcPct val="108000"/>
              </a:lnSpc>
              <a:spcAft>
                <a:spcPts val="300"/>
              </a:spcAft>
              <a:buSzPct val="100000"/>
              <a:buChar char="●"/>
            </a:pPr>
            <a:r>
              <a:rPr lang="en-US" sz="1700" b="1" dirty="0">
                <a:solidFill>
                  <a:srgbClr val="1C1F24"/>
                </a:solidFill>
              </a:rPr>
              <a:t>One language well</a:t>
            </a:r>
            <a:endParaRPr lang="en-US" sz="1700" dirty="0"/>
          </a:p>
          <a:p>
            <a:pPr marL="0" lvl="1" indent="0">
              <a:lnSpc>
                <a:spcPct val="108000"/>
              </a:lnSpc>
              <a:spcAft>
                <a:spcPts val="1800"/>
              </a:spcAft>
              <a:buNone/>
            </a:pPr>
            <a:r>
              <a:rPr lang="en-US" sz="1400" dirty="0">
                <a:solidFill>
                  <a:srgbClr val="5F6772"/>
                </a:solidFill>
              </a:rPr>
              <a:t>Python is fine. Well means testable, packaged, and readable by someone else.</a:t>
            </a:r>
            <a:endParaRPr lang="en-US" sz="1700" dirty="0"/>
          </a:p>
          <a:p>
            <a:pPr marL="342900" indent="-342900">
              <a:lnSpc>
                <a:spcPct val="108000"/>
              </a:lnSpc>
              <a:spcAft>
                <a:spcPts val="300"/>
              </a:spcAft>
              <a:buSzPct val="100000"/>
              <a:buChar char="●"/>
            </a:pPr>
            <a:r>
              <a:rPr lang="en-US" sz="1700" b="1" dirty="0">
                <a:solidFill>
                  <a:srgbClr val="1C1F24"/>
                </a:solidFill>
              </a:rPr>
              <a:t>Git, and CI</a:t>
            </a:r>
            <a:endParaRPr lang="en-US" sz="1700" dirty="0"/>
          </a:p>
          <a:p>
            <a:pPr marL="0" lvl="1" indent="0">
              <a:lnSpc>
                <a:spcPct val="108000"/>
              </a:lnSpc>
              <a:buNone/>
            </a:pPr>
            <a:r>
              <a:rPr lang="en-US" sz="1400" dirty="0">
                <a:solidFill>
                  <a:srgbClr val="5F6772"/>
                </a:solidFill>
              </a:rPr>
              <a:t>Branches, reviews, and a pipeline that runs your tests automatically.</a:t>
            </a:r>
            <a:endParaRPr lang="en-US" sz="1700" dirty="0"/>
          </a:p>
        </p:txBody>
      </p:sp>
      <p:sp>
        <p:nvSpPr>
          <p:cNvPr id="6" name="Text 3"/>
          <p:cNvSpPr txBox="1"/>
          <p:nvPr/>
        </p:nvSpPr>
        <p:spPr>
          <a:xfrm>
            <a:off x="6400800" y="1481328"/>
            <a:ext cx="5257800" cy="4791456"/>
          </a:xfrm>
          <a:prstGeom prst="rect">
            <a:avLst/>
          </a:prstGeom>
          <a:noFill/>
          <a:ln/>
        </p:spPr>
        <p:txBody>
          <a:bodyPr wrap="square" lIns="0" tIns="0" rIns="0" bIns="0" rtlCol="0" anchor="ctr"/>
          <a:lstStyle/>
          <a:p>
            <a:pPr marL="342900" indent="-342900">
              <a:lnSpc>
                <a:spcPct val="108000"/>
              </a:lnSpc>
              <a:spcAft>
                <a:spcPts val="300"/>
              </a:spcAft>
              <a:buSzPct val="100000"/>
              <a:buChar char="●"/>
            </a:pPr>
            <a:r>
              <a:rPr lang="en-US" sz="1700" b="1" dirty="0">
                <a:solidFill>
                  <a:srgbClr val="1C1F24"/>
                </a:solidFill>
              </a:rPr>
              <a:t>Containers</a:t>
            </a:r>
            <a:endParaRPr lang="en-US" sz="1700" dirty="0"/>
          </a:p>
          <a:p>
            <a:pPr marL="0" lvl="1" indent="0">
              <a:lnSpc>
                <a:spcPct val="108000"/>
              </a:lnSpc>
              <a:spcAft>
                <a:spcPts val="1800"/>
              </a:spcAft>
              <a:buNone/>
            </a:pPr>
            <a:r>
              <a:rPr lang="en-US" sz="1400" dirty="0">
                <a:solidFill>
                  <a:srgbClr val="5F6772"/>
                </a:solidFill>
              </a:rPr>
              <a:t>Enough Docker to package your own work and explain what an image is.</a:t>
            </a:r>
            <a:endParaRPr lang="en-US" sz="1700" dirty="0"/>
          </a:p>
          <a:p>
            <a:pPr marL="342900" indent="-342900">
              <a:lnSpc>
                <a:spcPct val="108000"/>
              </a:lnSpc>
              <a:spcAft>
                <a:spcPts val="300"/>
              </a:spcAft>
              <a:buSzPct val="100000"/>
              <a:buChar char="●"/>
            </a:pPr>
            <a:r>
              <a:rPr lang="en-US" sz="1700" b="1" dirty="0">
                <a:solidFill>
                  <a:srgbClr val="1C1F24"/>
                </a:solidFill>
              </a:rPr>
              <a:t>One cloud, one orchestrator</a:t>
            </a:r>
            <a:endParaRPr lang="en-US" sz="1700" dirty="0"/>
          </a:p>
          <a:p>
            <a:pPr marL="0" lvl="1" indent="0">
              <a:lnSpc>
                <a:spcPct val="108000"/>
              </a:lnSpc>
              <a:spcAft>
                <a:spcPts val="1800"/>
              </a:spcAft>
              <a:buNone/>
            </a:pPr>
            <a:r>
              <a:rPr lang="en-US" sz="1400" dirty="0">
                <a:solidFill>
                  <a:srgbClr val="5F6772"/>
                </a:solidFill>
              </a:rPr>
              <a:t>Depth in one beats a list of six. The concepts transfer.</a:t>
            </a:r>
            <a:endParaRPr lang="en-US" sz="1700" dirty="0"/>
          </a:p>
          <a:p>
            <a:pPr marL="342900" indent="-342900">
              <a:lnSpc>
                <a:spcPct val="108000"/>
              </a:lnSpc>
              <a:spcAft>
                <a:spcPts val="300"/>
              </a:spcAft>
              <a:buSzPct val="100000"/>
              <a:buChar char="●"/>
            </a:pPr>
            <a:r>
              <a:rPr lang="en-US" sz="1700" b="1" dirty="0">
                <a:solidFill>
                  <a:srgbClr val="1C1F24"/>
                </a:solidFill>
              </a:rPr>
              <a:t>How data actually moves</a:t>
            </a:r>
            <a:endParaRPr lang="en-US" sz="1700" dirty="0"/>
          </a:p>
          <a:p>
            <a:pPr marL="0" lvl="1" indent="0">
              <a:lnSpc>
                <a:spcPct val="108000"/>
              </a:lnSpc>
              <a:buNone/>
            </a:pPr>
            <a:r>
              <a:rPr lang="en-US" sz="1400" dirty="0">
                <a:solidFill>
                  <a:srgbClr val="5F6772"/>
                </a:solidFill>
              </a:rPr>
              <a:t>Batch versus streaming, idempotency, schema change, late-arriving data.</a:t>
            </a:r>
            <a:endParaRPr lang="en-US" sz="17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THREE · WHAT TO BUILD</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One thing, end to end, actually running</a:t>
            </a:r>
            <a:endParaRPr lang="en-US" sz="3200" dirty="0"/>
          </a:p>
        </p:txBody>
      </p:sp>
      <p:sp>
        <p:nvSpPr>
          <p:cNvPr id="5" name="stage-0"/>
          <p:cNvSpPr/>
          <p:nvPr/>
        </p:nvSpPr>
        <p:spPr>
          <a:xfrm>
            <a:off x="566928" y="1755648"/>
            <a:ext cx="1992112" cy="1554480"/>
          </a:xfrm>
          <a:prstGeom prst="roundRect">
            <a:avLst>
              <a:gd name="adj" fmla="val 4118"/>
            </a:avLst>
          </a:prstGeom>
          <a:solidFill>
            <a:srgbClr val="FFFFFF"/>
          </a:solidFill>
          <a:ln w="9525">
            <a:solidFill>
              <a:srgbClr val="E2DDD6"/>
            </a:solidFill>
            <a:prstDash val="solid"/>
          </a:ln>
        </p:spPr>
        <p:txBody>
          <a:bodyPr/>
          <a:lstStyle/>
          <a:p>
            <a:endParaRPr lang="en-US"/>
          </a:p>
        </p:txBody>
      </p:sp>
      <p:sp>
        <p:nvSpPr>
          <p:cNvPr id="6" name="Text 3"/>
          <p:cNvSpPr txBox="1"/>
          <p:nvPr/>
        </p:nvSpPr>
        <p:spPr>
          <a:xfrm>
            <a:off x="694944" y="1865376"/>
            <a:ext cx="1736080" cy="133502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Ingest</a:t>
            </a:r>
            <a:endParaRPr lang="en-US" sz="1300" dirty="0"/>
          </a:p>
          <a:p>
            <a:pPr marL="0" indent="0">
              <a:lnSpc>
                <a:spcPct val="105000"/>
              </a:lnSpc>
              <a:buNone/>
            </a:pPr>
            <a:r>
              <a:rPr lang="en-US" sz="1050" dirty="0">
                <a:solidFill>
                  <a:srgbClr val="5F6772"/>
                </a:solidFill>
              </a:rPr>
              <a:t>A public API on a schedule.</a:t>
            </a:r>
            <a:endParaRPr lang="en-US" sz="1300" dirty="0"/>
          </a:p>
        </p:txBody>
      </p:sp>
      <p:sp>
        <p:nvSpPr>
          <p:cNvPr id="7" name="Text 4"/>
          <p:cNvSpPr txBox="1"/>
          <p:nvPr/>
        </p:nvSpPr>
        <p:spPr>
          <a:xfrm>
            <a:off x="2559040" y="237744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8" name="stage-1"/>
          <p:cNvSpPr/>
          <p:nvPr/>
        </p:nvSpPr>
        <p:spPr>
          <a:xfrm>
            <a:off x="2833360" y="1755648"/>
            <a:ext cx="1992112" cy="1554480"/>
          </a:xfrm>
          <a:prstGeom prst="roundRect">
            <a:avLst>
              <a:gd name="adj" fmla="val 4118"/>
            </a:avLst>
          </a:prstGeom>
          <a:solidFill>
            <a:srgbClr val="FFFFFF"/>
          </a:solidFill>
          <a:ln w="9525">
            <a:solidFill>
              <a:srgbClr val="E2DDD6"/>
            </a:solidFill>
            <a:prstDash val="solid"/>
          </a:ln>
        </p:spPr>
        <p:txBody>
          <a:bodyPr/>
          <a:lstStyle/>
          <a:p>
            <a:endParaRPr lang="en-US"/>
          </a:p>
        </p:txBody>
      </p:sp>
      <p:sp>
        <p:nvSpPr>
          <p:cNvPr id="9" name="Text 6"/>
          <p:cNvSpPr txBox="1"/>
          <p:nvPr/>
        </p:nvSpPr>
        <p:spPr>
          <a:xfrm>
            <a:off x="2961376" y="1865376"/>
            <a:ext cx="1736080" cy="133502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Store</a:t>
            </a:r>
            <a:endParaRPr lang="en-US" sz="1300" dirty="0"/>
          </a:p>
          <a:p>
            <a:pPr marL="0" indent="0">
              <a:lnSpc>
                <a:spcPct val="105000"/>
              </a:lnSpc>
              <a:buNone/>
            </a:pPr>
            <a:r>
              <a:rPr lang="en-US" sz="1050" dirty="0">
                <a:solidFill>
                  <a:srgbClr val="5F6772"/>
                </a:solidFill>
              </a:rPr>
              <a:t>A real database with a real schema.</a:t>
            </a:r>
            <a:endParaRPr lang="en-US" sz="1300" dirty="0"/>
          </a:p>
        </p:txBody>
      </p:sp>
      <p:sp>
        <p:nvSpPr>
          <p:cNvPr id="10" name="Text 7"/>
          <p:cNvSpPr txBox="1"/>
          <p:nvPr/>
        </p:nvSpPr>
        <p:spPr>
          <a:xfrm>
            <a:off x="4825472" y="237744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11" name="stage-2"/>
          <p:cNvSpPr/>
          <p:nvPr/>
        </p:nvSpPr>
        <p:spPr>
          <a:xfrm>
            <a:off x="5099792" y="1755648"/>
            <a:ext cx="1992112" cy="1554480"/>
          </a:xfrm>
          <a:prstGeom prst="roundRect">
            <a:avLst>
              <a:gd name="adj" fmla="val 4118"/>
            </a:avLst>
          </a:prstGeom>
          <a:solidFill>
            <a:srgbClr val="FFFFFF"/>
          </a:solidFill>
          <a:ln w="9525">
            <a:solidFill>
              <a:srgbClr val="E2DDD6"/>
            </a:solidFill>
            <a:prstDash val="solid"/>
          </a:ln>
        </p:spPr>
        <p:txBody>
          <a:bodyPr/>
          <a:lstStyle/>
          <a:p>
            <a:endParaRPr lang="en-US"/>
          </a:p>
        </p:txBody>
      </p:sp>
      <p:sp>
        <p:nvSpPr>
          <p:cNvPr id="12" name="Text 9"/>
          <p:cNvSpPr txBox="1"/>
          <p:nvPr/>
        </p:nvSpPr>
        <p:spPr>
          <a:xfrm>
            <a:off x="5227808" y="1865376"/>
            <a:ext cx="1736080" cy="133502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Transform</a:t>
            </a:r>
            <a:endParaRPr lang="en-US" sz="1300" dirty="0"/>
          </a:p>
          <a:p>
            <a:pPr marL="0" indent="0">
              <a:lnSpc>
                <a:spcPct val="105000"/>
              </a:lnSpc>
              <a:buNone/>
            </a:pPr>
            <a:r>
              <a:rPr lang="en-US" sz="1050" dirty="0">
                <a:solidFill>
                  <a:srgbClr val="5F6772"/>
                </a:solidFill>
              </a:rPr>
              <a:t>Tested, and idempotent.</a:t>
            </a:r>
            <a:endParaRPr lang="en-US" sz="1300" dirty="0"/>
          </a:p>
        </p:txBody>
      </p:sp>
      <p:sp>
        <p:nvSpPr>
          <p:cNvPr id="13" name="Text 10"/>
          <p:cNvSpPr txBox="1"/>
          <p:nvPr/>
        </p:nvSpPr>
        <p:spPr>
          <a:xfrm>
            <a:off x="7091904" y="237744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14" name="stage-3"/>
          <p:cNvSpPr/>
          <p:nvPr/>
        </p:nvSpPr>
        <p:spPr>
          <a:xfrm>
            <a:off x="7366224" y="1755648"/>
            <a:ext cx="1992112" cy="1554480"/>
          </a:xfrm>
          <a:prstGeom prst="roundRect">
            <a:avLst>
              <a:gd name="adj" fmla="val 4118"/>
            </a:avLst>
          </a:prstGeom>
          <a:solidFill>
            <a:srgbClr val="FFFFFF"/>
          </a:solidFill>
          <a:ln w="9525">
            <a:solidFill>
              <a:srgbClr val="E2DDD6"/>
            </a:solidFill>
            <a:prstDash val="solid"/>
          </a:ln>
        </p:spPr>
        <p:txBody>
          <a:bodyPr/>
          <a:lstStyle/>
          <a:p>
            <a:endParaRPr lang="en-US"/>
          </a:p>
        </p:txBody>
      </p:sp>
      <p:sp>
        <p:nvSpPr>
          <p:cNvPr id="15" name="Text 12"/>
          <p:cNvSpPr txBox="1"/>
          <p:nvPr/>
        </p:nvSpPr>
        <p:spPr>
          <a:xfrm>
            <a:off x="7494240" y="1865376"/>
            <a:ext cx="1736080" cy="133502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Serve</a:t>
            </a:r>
            <a:endParaRPr lang="en-US" sz="1300" dirty="0"/>
          </a:p>
          <a:p>
            <a:pPr marL="0" indent="0">
              <a:lnSpc>
                <a:spcPct val="105000"/>
              </a:lnSpc>
              <a:buNone/>
            </a:pPr>
            <a:r>
              <a:rPr lang="en-US" sz="1050" dirty="0">
                <a:solidFill>
                  <a:srgbClr val="5F6772"/>
                </a:solidFill>
              </a:rPr>
              <a:t>An endpoint or a dashboard.</a:t>
            </a:r>
            <a:endParaRPr lang="en-US" sz="1300" dirty="0"/>
          </a:p>
        </p:txBody>
      </p:sp>
      <p:sp>
        <p:nvSpPr>
          <p:cNvPr id="16" name="Text 13"/>
          <p:cNvSpPr txBox="1"/>
          <p:nvPr/>
        </p:nvSpPr>
        <p:spPr>
          <a:xfrm>
            <a:off x="9358335" y="2377440"/>
            <a:ext cx="274320" cy="310896"/>
          </a:xfrm>
          <a:prstGeom prst="rect">
            <a:avLst/>
          </a:prstGeom>
          <a:noFill/>
          <a:ln/>
        </p:spPr>
        <p:txBody>
          <a:bodyPr wrap="square" lIns="0" tIns="0" rIns="0" bIns="0" rtlCol="0" anchor="ctr"/>
          <a:lstStyle/>
          <a:p>
            <a:pPr marL="0" indent="0" algn="ctr">
              <a:buNone/>
            </a:pPr>
            <a:r>
              <a:rPr lang="en-US" sz="1700" dirty="0">
                <a:solidFill>
                  <a:srgbClr val="8B929C"/>
                </a:solidFill>
              </a:rPr>
              <a:t>→</a:t>
            </a:r>
            <a:endParaRPr lang="en-US" sz="1700" dirty="0"/>
          </a:p>
        </p:txBody>
      </p:sp>
      <p:sp>
        <p:nvSpPr>
          <p:cNvPr id="17" name="stage-4"/>
          <p:cNvSpPr/>
          <p:nvPr/>
        </p:nvSpPr>
        <p:spPr>
          <a:xfrm>
            <a:off x="9632655" y="1755648"/>
            <a:ext cx="1992112" cy="1554480"/>
          </a:xfrm>
          <a:prstGeom prst="roundRect">
            <a:avLst>
              <a:gd name="adj" fmla="val 4118"/>
            </a:avLst>
          </a:prstGeom>
          <a:solidFill>
            <a:srgbClr val="F0E4E8"/>
          </a:solidFill>
          <a:ln w="15875">
            <a:solidFill>
              <a:srgbClr val="6B1F37"/>
            </a:solidFill>
            <a:prstDash val="solid"/>
          </a:ln>
        </p:spPr>
        <p:txBody>
          <a:bodyPr/>
          <a:lstStyle/>
          <a:p>
            <a:endParaRPr lang="en-US"/>
          </a:p>
        </p:txBody>
      </p:sp>
      <p:sp>
        <p:nvSpPr>
          <p:cNvPr id="18" name="Text 15"/>
          <p:cNvSpPr txBox="1"/>
          <p:nvPr/>
        </p:nvSpPr>
        <p:spPr>
          <a:xfrm>
            <a:off x="9760671" y="1865376"/>
            <a:ext cx="1736080" cy="1335024"/>
          </a:xfrm>
          <a:prstGeom prst="rect">
            <a:avLst/>
          </a:prstGeom>
          <a:noFill/>
          <a:ln/>
        </p:spPr>
        <p:txBody>
          <a:bodyPr wrap="square" lIns="0" tIns="0" rIns="0" bIns="0" rtlCol="0" anchor="t"/>
          <a:lstStyle/>
          <a:p>
            <a:pPr marL="0" indent="0">
              <a:lnSpc>
                <a:spcPct val="105000"/>
              </a:lnSpc>
              <a:buNone/>
            </a:pPr>
            <a:r>
              <a:rPr lang="en-US" sz="1300" b="1" dirty="0">
                <a:solidFill>
                  <a:srgbClr val="1C1F24"/>
                </a:solidFill>
              </a:rPr>
              <a:t>Deploy</a:t>
            </a:r>
            <a:endParaRPr lang="en-US" sz="1300" dirty="0"/>
          </a:p>
          <a:p>
            <a:pPr marL="0" indent="0">
              <a:lnSpc>
                <a:spcPct val="105000"/>
              </a:lnSpc>
              <a:buNone/>
            </a:pPr>
            <a:r>
              <a:rPr lang="en-US" sz="1050" dirty="0">
                <a:solidFill>
                  <a:srgbClr val="5F6772"/>
                </a:solidFill>
              </a:rPr>
              <a:t>Somewhere that is not your laptop.</a:t>
            </a:r>
            <a:endParaRPr lang="en-US" sz="1300" dirty="0"/>
          </a:p>
        </p:txBody>
      </p:sp>
      <p:sp>
        <p:nvSpPr>
          <p:cNvPr id="19" name="Text 16"/>
          <p:cNvSpPr txBox="1"/>
          <p:nvPr/>
        </p:nvSpPr>
        <p:spPr>
          <a:xfrm>
            <a:off x="566928" y="3630168"/>
            <a:ext cx="10789920" cy="2514600"/>
          </a:xfrm>
          <a:prstGeom prst="rect">
            <a:avLst/>
          </a:prstGeom>
          <a:noFill/>
          <a:ln/>
        </p:spPr>
        <p:txBody>
          <a:bodyPr wrap="square" lIns="0" tIns="0" rIns="0" bIns="0" rtlCol="0" anchor="ctr"/>
          <a:lstStyle/>
          <a:p>
            <a:pPr marL="342900" indent="-342900">
              <a:lnSpc>
                <a:spcPct val="108000"/>
              </a:lnSpc>
              <a:spcAft>
                <a:spcPts val="300"/>
              </a:spcAft>
              <a:buSzPct val="100000"/>
              <a:buChar char="●"/>
            </a:pPr>
            <a:r>
              <a:rPr lang="en-US" sz="1700" b="1" dirty="0">
                <a:solidFill>
                  <a:srgbClr val="1C1F24"/>
                </a:solidFill>
              </a:rPr>
              <a:t>Scope it deliberately small</a:t>
            </a:r>
            <a:endParaRPr lang="en-US" sz="1700" dirty="0"/>
          </a:p>
          <a:p>
            <a:pPr marL="0" lvl="1" indent="0">
              <a:lnSpc>
                <a:spcPct val="108000"/>
              </a:lnSpc>
              <a:spcAft>
                <a:spcPts val="1800"/>
              </a:spcAft>
              <a:buNone/>
            </a:pPr>
            <a:r>
              <a:rPr lang="en-US" sz="1400" dirty="0">
                <a:solidFill>
                  <a:srgbClr val="5F6772"/>
                </a:solidFill>
              </a:rPr>
              <a:t>One source, one table, one view. Finished beats ambitious.</a:t>
            </a:r>
            <a:endParaRPr lang="en-US" sz="1700" dirty="0"/>
          </a:p>
          <a:p>
            <a:pPr marL="342900" indent="-342900">
              <a:lnSpc>
                <a:spcPct val="108000"/>
              </a:lnSpc>
              <a:spcAft>
                <a:spcPts val="300"/>
              </a:spcAft>
              <a:buSzPct val="100000"/>
              <a:buChar char="●"/>
            </a:pPr>
            <a:r>
              <a:rPr lang="en-US" sz="1700" b="1" dirty="0">
                <a:solidFill>
                  <a:srgbClr val="1C1F24"/>
                </a:solidFill>
              </a:rPr>
              <a:t>One finished project beats five notebooks</a:t>
            </a:r>
            <a:endParaRPr lang="en-US" sz="1700" dirty="0"/>
          </a:p>
          <a:p>
            <a:pPr marL="0" lvl="1" indent="0">
              <a:lnSpc>
                <a:spcPct val="108000"/>
              </a:lnSpc>
              <a:buNone/>
            </a:pPr>
            <a:r>
              <a:rPr lang="en-US" sz="1400" dirty="0">
                <a:solidFill>
                  <a:srgbClr val="5F6772"/>
                </a:solidFill>
              </a:rPr>
              <a:t>Because only the finished one forces you to handle failure, scheduling and deployment — which is the actual job.</a:t>
            </a:r>
            <a:endParaRPr lang="en-US" sz="17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THREE · WHAT TO BUILD</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Make the unglamorous parts visible</a:t>
            </a:r>
            <a:endParaRPr lang="en-US" sz="3200" dirty="0"/>
          </a:p>
        </p:txBody>
      </p:sp>
      <p:sp>
        <p:nvSpPr>
          <p:cNvPr id="5" name="Text 2"/>
          <p:cNvSpPr txBox="1"/>
          <p:nvPr/>
        </p:nvSpPr>
        <p:spPr>
          <a:xfrm>
            <a:off x="566928" y="1481328"/>
            <a:ext cx="5394960" cy="4791456"/>
          </a:xfrm>
          <a:prstGeom prst="rect">
            <a:avLst/>
          </a:prstGeom>
          <a:noFill/>
          <a:ln/>
        </p:spPr>
        <p:txBody>
          <a:bodyPr wrap="square" lIns="0" tIns="0" rIns="0" bIns="0" rtlCol="0" anchor="ctr"/>
          <a:lstStyle/>
          <a:p>
            <a:pPr marL="342900" indent="-342900">
              <a:lnSpc>
                <a:spcPct val="108000"/>
              </a:lnSpc>
              <a:spcAft>
                <a:spcPts val="1400"/>
              </a:spcAft>
              <a:buSzPct val="100000"/>
              <a:buChar char="●"/>
            </a:pPr>
            <a:r>
              <a:rPr lang="en-US" sz="1900" b="1" dirty="0">
                <a:solidFill>
                  <a:srgbClr val="1C1F24"/>
                </a:solidFill>
              </a:rPr>
              <a:t>A schema, with constraints</a:t>
            </a:r>
            <a:endParaRPr lang="en-US" sz="1900" dirty="0"/>
          </a:p>
          <a:p>
            <a:pPr marL="342900" indent="-342900">
              <a:lnSpc>
                <a:spcPct val="108000"/>
              </a:lnSpc>
              <a:spcAft>
                <a:spcPts val="1400"/>
              </a:spcAft>
              <a:buSzPct val="100000"/>
              <a:buChar char="●"/>
            </a:pPr>
            <a:r>
              <a:rPr lang="en-US" sz="1900" b="1" dirty="0">
                <a:solidFill>
                  <a:srgbClr val="1C1F24"/>
                </a:solidFill>
              </a:rPr>
              <a:t>Tests that run in CI</a:t>
            </a:r>
            <a:endParaRPr lang="en-US" sz="1900" dirty="0"/>
          </a:p>
          <a:p>
            <a:pPr marL="342900" indent="-342900">
              <a:lnSpc>
                <a:spcPct val="108000"/>
              </a:lnSpc>
              <a:spcAft>
                <a:spcPts val="1400"/>
              </a:spcAft>
              <a:buSzPct val="100000"/>
              <a:buChar char="●"/>
            </a:pPr>
            <a:r>
              <a:rPr lang="en-US" sz="1900" b="1" dirty="0">
                <a:solidFill>
                  <a:srgbClr val="1C1F24"/>
                </a:solidFill>
              </a:rPr>
              <a:t>Ingestion you can safely run twice</a:t>
            </a:r>
            <a:endParaRPr lang="en-US" sz="1900" dirty="0"/>
          </a:p>
          <a:p>
            <a:pPr marL="342900" indent="-342900">
              <a:lnSpc>
                <a:spcPct val="108000"/>
              </a:lnSpc>
              <a:spcAft>
                <a:spcPts val="1400"/>
              </a:spcAft>
              <a:buSzPct val="100000"/>
              <a:buChar char="●"/>
            </a:pPr>
            <a:r>
              <a:rPr lang="en-US" sz="1900" b="1" dirty="0">
                <a:solidFill>
                  <a:srgbClr val="1C1F24"/>
                </a:solidFill>
              </a:rPr>
              <a:t>A README with a diagram</a:t>
            </a:r>
            <a:endParaRPr lang="en-US" sz="1900" dirty="0"/>
          </a:p>
          <a:p>
            <a:pPr marL="342900" indent="-342900">
              <a:lnSpc>
                <a:spcPct val="108000"/>
              </a:lnSpc>
              <a:spcAft>
                <a:spcPts val="1400"/>
              </a:spcAft>
              <a:buSzPct val="100000"/>
              <a:buChar char="●"/>
            </a:pPr>
            <a:r>
              <a:rPr lang="en-US" sz="1900" b="1" dirty="0">
                <a:solidFill>
                  <a:srgbClr val="1C1F24"/>
                </a:solidFill>
              </a:rPr>
              <a:t>One honest “known limitations” section</a:t>
            </a:r>
            <a:endParaRPr lang="en-US" sz="1900" dirty="0"/>
          </a:p>
        </p:txBody>
      </p:sp>
      <p:sp>
        <p:nvSpPr>
          <p:cNvPr id="6" name="callout-card"/>
          <p:cNvSpPr/>
          <p:nvPr/>
        </p:nvSpPr>
        <p:spPr>
          <a:xfrm>
            <a:off x="6400800" y="2551176"/>
            <a:ext cx="5257800" cy="265176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7" name="callout-rule"/>
          <p:cNvSpPr/>
          <p:nvPr/>
        </p:nvSpPr>
        <p:spPr>
          <a:xfrm>
            <a:off x="6400800" y="2551176"/>
            <a:ext cx="41148" cy="2651760"/>
          </a:xfrm>
          <a:prstGeom prst="rect">
            <a:avLst/>
          </a:prstGeom>
          <a:solidFill>
            <a:srgbClr val="6B1F37"/>
          </a:solidFill>
          <a:ln w="12700">
            <a:solidFill>
              <a:srgbClr val="333333"/>
            </a:solidFill>
            <a:prstDash val="solid"/>
          </a:ln>
        </p:spPr>
        <p:txBody>
          <a:bodyPr/>
          <a:lstStyle/>
          <a:p>
            <a:endParaRPr lang="en-US"/>
          </a:p>
        </p:txBody>
      </p:sp>
      <p:sp>
        <p:nvSpPr>
          <p:cNvPr id="8" name="Text 5"/>
          <p:cNvSpPr txBox="1"/>
          <p:nvPr/>
        </p:nvSpPr>
        <p:spPr>
          <a:xfrm>
            <a:off x="6675120" y="2642616"/>
            <a:ext cx="4754880" cy="246888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Anyone can train a model. Very few graduates can show me ingestion that is safe to re-run, or a constraint that prevents a class of bug.</a:t>
            </a:r>
            <a:endParaRPr lang="en-US" sz="1500" dirty="0"/>
          </a:p>
          <a:p>
            <a:pPr marL="0" indent="0">
              <a:lnSpc>
                <a:spcPct val="106000"/>
              </a:lnSpc>
              <a:buNone/>
            </a:pPr>
            <a:endParaRPr lang="en-US" sz="1500" dirty="0"/>
          </a:p>
          <a:p>
            <a:pPr marL="0" indent="0">
              <a:lnSpc>
                <a:spcPct val="106000"/>
              </a:lnSpc>
              <a:buNone/>
            </a:pPr>
            <a:r>
              <a:rPr lang="en-US" sz="1150" dirty="0">
                <a:solidFill>
                  <a:srgbClr val="8B929C"/>
                </a:solidFill>
              </a:rPr>
              <a:t>That is what separates a project from a portfolio piece.</a:t>
            </a:r>
            <a:endParaRPr lang="en-US" sz="15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THREE · INTERVIEWS</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How to talk about what you built</a:t>
            </a:r>
            <a:endParaRPr lang="en-US" sz="3200" dirty="0"/>
          </a:p>
        </p:txBody>
      </p:sp>
      <p:sp>
        <p:nvSpPr>
          <p:cNvPr id="5" name="Text 2"/>
          <p:cNvSpPr txBox="1"/>
          <p:nvPr/>
        </p:nvSpPr>
        <p:spPr>
          <a:xfrm>
            <a:off x="566928" y="1481328"/>
            <a:ext cx="10789920" cy="4791456"/>
          </a:xfrm>
          <a:prstGeom prst="rect">
            <a:avLst/>
          </a:prstGeom>
          <a:noFill/>
          <a:ln/>
        </p:spPr>
        <p:txBody>
          <a:bodyPr wrap="square" lIns="0" tIns="0" rIns="0" bIns="0" rtlCol="0" anchor="ctr"/>
          <a:lstStyle/>
          <a:p>
            <a:pPr marL="342900" indent="-342900">
              <a:lnSpc>
                <a:spcPct val="108000"/>
              </a:lnSpc>
              <a:spcAft>
                <a:spcPts val="300"/>
              </a:spcAft>
              <a:buSzPct val="100000"/>
              <a:buChar char="●"/>
            </a:pPr>
            <a:r>
              <a:rPr lang="en-US" sz="1700" b="1" dirty="0">
                <a:solidFill>
                  <a:srgbClr val="1C1F24"/>
                </a:solidFill>
              </a:rPr>
              <a:t>The problem</a:t>
            </a:r>
            <a:endParaRPr lang="en-US" sz="1700" dirty="0"/>
          </a:p>
          <a:p>
            <a:pPr marL="0" lvl="1" indent="0">
              <a:lnSpc>
                <a:spcPct val="108000"/>
              </a:lnSpc>
              <a:spcAft>
                <a:spcPts val="1800"/>
              </a:spcAft>
              <a:buNone/>
            </a:pPr>
            <a:r>
              <a:rPr lang="en-US" sz="1400" dirty="0">
                <a:solidFill>
                  <a:srgbClr val="5F6772"/>
                </a:solidFill>
              </a:rPr>
              <a:t>In one sentence, without jargon.</a:t>
            </a:r>
            <a:endParaRPr lang="en-US" sz="1700" dirty="0"/>
          </a:p>
          <a:p>
            <a:pPr marL="342900" indent="-342900">
              <a:lnSpc>
                <a:spcPct val="108000"/>
              </a:lnSpc>
              <a:spcAft>
                <a:spcPts val="300"/>
              </a:spcAft>
              <a:buSzPct val="100000"/>
              <a:buChar char="●"/>
            </a:pPr>
            <a:r>
              <a:rPr lang="en-US" sz="1700" b="1" dirty="0">
                <a:solidFill>
                  <a:srgbClr val="1C1F24"/>
                </a:solidFill>
              </a:rPr>
              <a:t>The constraint</a:t>
            </a:r>
            <a:endParaRPr lang="en-US" sz="1700" dirty="0"/>
          </a:p>
          <a:p>
            <a:pPr marL="0" lvl="1" indent="0">
              <a:lnSpc>
                <a:spcPct val="108000"/>
              </a:lnSpc>
              <a:spcAft>
                <a:spcPts val="1800"/>
              </a:spcAft>
              <a:buNone/>
            </a:pPr>
            <a:r>
              <a:rPr lang="en-US" sz="1400" dirty="0">
                <a:solidFill>
                  <a:srgbClr val="5F6772"/>
                </a:solidFill>
              </a:rPr>
              <a:t>No budget, no labelled data, one week. Constraints make choices sound deliberate.</a:t>
            </a:r>
            <a:endParaRPr lang="en-US" sz="1700" dirty="0"/>
          </a:p>
          <a:p>
            <a:pPr marL="342900" indent="-342900">
              <a:lnSpc>
                <a:spcPct val="108000"/>
              </a:lnSpc>
              <a:spcAft>
                <a:spcPts val="300"/>
              </a:spcAft>
              <a:buSzPct val="100000"/>
              <a:buChar char="●"/>
            </a:pPr>
            <a:r>
              <a:rPr lang="en-US" sz="1700" b="1" dirty="0">
                <a:solidFill>
                  <a:srgbClr val="1C1F24"/>
                </a:solidFill>
              </a:rPr>
              <a:t>What you chose, and what you rejected</a:t>
            </a:r>
            <a:endParaRPr lang="en-US" sz="1700" dirty="0"/>
          </a:p>
          <a:p>
            <a:pPr marL="0" lvl="1" indent="0">
              <a:lnSpc>
                <a:spcPct val="108000"/>
              </a:lnSpc>
              <a:spcAft>
                <a:spcPts val="1800"/>
              </a:spcAft>
              <a:buNone/>
            </a:pPr>
            <a:r>
              <a:rPr lang="en-US" sz="1400" dirty="0">
                <a:solidFill>
                  <a:srgbClr val="5F6772"/>
                </a:solidFill>
              </a:rPr>
              <a:t>“I used Postgres over a queue because…” This is the part they are assessing.</a:t>
            </a:r>
            <a:endParaRPr lang="en-US" sz="1700" dirty="0"/>
          </a:p>
          <a:p>
            <a:pPr marL="342900" indent="-342900">
              <a:lnSpc>
                <a:spcPct val="108000"/>
              </a:lnSpc>
              <a:spcAft>
                <a:spcPts val="300"/>
              </a:spcAft>
              <a:buSzPct val="100000"/>
              <a:buChar char="●"/>
            </a:pPr>
            <a:r>
              <a:rPr lang="en-US" sz="1700" b="1" dirty="0">
                <a:solidFill>
                  <a:srgbClr val="1C1F24"/>
                </a:solidFill>
              </a:rPr>
              <a:t>What broke</a:t>
            </a:r>
            <a:endParaRPr lang="en-US" sz="1700" dirty="0"/>
          </a:p>
          <a:p>
            <a:pPr marL="0" lvl="1" indent="0">
              <a:lnSpc>
                <a:spcPct val="108000"/>
              </a:lnSpc>
              <a:spcAft>
                <a:spcPts val="1800"/>
              </a:spcAft>
              <a:buNone/>
            </a:pPr>
            <a:r>
              <a:rPr lang="en-US" sz="1400" dirty="0">
                <a:solidFill>
                  <a:srgbClr val="5F6772"/>
                </a:solidFill>
              </a:rPr>
              <a:t>Have one real failure ready. Mine is the model that gave a different answer on the same data.</a:t>
            </a:r>
            <a:endParaRPr lang="en-US" sz="1700" dirty="0"/>
          </a:p>
          <a:p>
            <a:pPr marL="342900" indent="-342900">
              <a:lnSpc>
                <a:spcPct val="108000"/>
              </a:lnSpc>
              <a:spcAft>
                <a:spcPts val="300"/>
              </a:spcAft>
              <a:buSzPct val="100000"/>
              <a:buChar char="●"/>
            </a:pPr>
            <a:r>
              <a:rPr lang="en-US" sz="1700" b="1" dirty="0">
                <a:solidFill>
                  <a:srgbClr val="1C1F24"/>
                </a:solidFill>
              </a:rPr>
              <a:t>What you would do differently</a:t>
            </a:r>
            <a:endParaRPr lang="en-US" sz="1700" dirty="0"/>
          </a:p>
          <a:p>
            <a:pPr marL="0" lvl="1" indent="0">
              <a:lnSpc>
                <a:spcPct val="108000"/>
              </a:lnSpc>
              <a:buNone/>
            </a:pPr>
            <a:r>
              <a:rPr lang="en-US" sz="1400" dirty="0">
                <a:solidFill>
                  <a:srgbClr val="5F6772"/>
                </a:solidFill>
              </a:rPr>
              <a:t>Shows you learned something rather than just finished something.</a:t>
            </a:r>
            <a:endParaRPr lang="en-US" sz="17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THREE · WHICH PATH</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Data engineering or data science?</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18488"/>
          <a:ext cx="10789920" cy="1297940"/>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0">
                <a:tc>
                  <a:txBody>
                    <a:bodyPr/>
                    <a:lstStyle/>
                    <a:p>
                      <a:pPr marL="0" indent="0" algn="l">
                        <a:buNone/>
                      </a:pP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tc>
                  <a:txBody>
                    <a:bodyPr/>
                    <a:lstStyle/>
                    <a:p>
                      <a:pPr marL="0" indent="0" algn="l">
                        <a:buNone/>
                      </a:pPr>
                      <a:r>
                        <a:rPr lang="en-US" sz="1300" b="1" dirty="0">
                          <a:solidFill>
                            <a:srgbClr val="1C1F24"/>
                          </a:solidFill>
                          <a:latin typeface="Calibri" pitchFamily="34" charset="0"/>
                          <a:ea typeface="Calibri" pitchFamily="34" charset="-122"/>
                          <a:cs typeface="Calibri" pitchFamily="34" charset="-120"/>
                        </a:rPr>
                        <a:t>Data engineering</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tc>
                  <a:txBody>
                    <a:bodyPr/>
                    <a:lstStyle/>
                    <a:p>
                      <a:pPr marL="0" indent="0" algn="l">
                        <a:buNone/>
                      </a:pPr>
                      <a:r>
                        <a:rPr lang="en-US" sz="1300" b="1" dirty="0">
                          <a:solidFill>
                            <a:srgbClr val="1C1F24"/>
                          </a:solidFill>
                          <a:latin typeface="Calibri" pitchFamily="34" charset="0"/>
                          <a:ea typeface="Calibri" pitchFamily="34" charset="-122"/>
                          <a:cs typeface="Calibri" pitchFamily="34" charset="-120"/>
                        </a:rPr>
                        <a:t>Data science</a:t>
                      </a:r>
                      <a:endParaRPr lang="en-US" sz="1300" dirty="0">
                        <a:latin typeface="Calibri" charset="0"/>
                        <a:ea typeface="Calibri" charset="0"/>
                        <a:cs typeface="Calibri" charset="0"/>
                      </a:endParaRPr>
                    </a:p>
                  </a:txBody>
                  <a:tcPr marL="0" marR="50800" marT="25400" marB="76200">
                    <a:lnL w="0" cap="flat" cmpd="sng" algn="ctr">
                      <a:noFill/>
                    </a:lnL>
                    <a:lnR w="0" cap="flat" cmpd="sng" algn="ctr">
                      <a:noFill/>
                    </a:lnR>
                    <a:lnT w="0" cap="flat" cmpd="sng" algn="ctr">
                      <a:noFill/>
                    </a:lnT>
                    <a:lnB w="19050" cap="flat" cmpd="sng" algn="ctr">
                      <a:solidFill>
                        <a:srgbClr val="1C1F24"/>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lgn="l">
                        <a:buNone/>
                      </a:pPr>
                      <a:r>
                        <a:rPr lang="en-US" sz="1350" b="1" dirty="0">
                          <a:solidFill>
                            <a:srgbClr val="1C1F24"/>
                          </a:solidFill>
                          <a:latin typeface="Calibri" pitchFamily="34" charset="0"/>
                          <a:ea typeface="Calibri" pitchFamily="34" charset="-122"/>
                          <a:cs typeface="Calibri" pitchFamily="34" charset="-120"/>
                        </a:rPr>
                        <a:t>Optimises for</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Correctness, reliability, cost</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Insight, inference, decisions</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19050" cap="flat" cmpd="sng" algn="ctr">
                      <a:solidFill>
                        <a:srgbClr val="1C1F24"/>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350" b="1" dirty="0">
                          <a:solidFill>
                            <a:srgbClr val="1C1F24"/>
                          </a:solidFill>
                          <a:latin typeface="Calibri" pitchFamily="34" charset="0"/>
                          <a:ea typeface="Calibri" pitchFamily="34" charset="-122"/>
                          <a:cs typeface="Calibri" pitchFamily="34" charset="-120"/>
                        </a:rPr>
                        <a:t>Day to day</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Pipelines, schemas, orchestration, on-call</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Questions, models, analysis, communication</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350" b="1" dirty="0">
                          <a:solidFill>
                            <a:srgbClr val="1C1F24"/>
                          </a:solidFill>
                          <a:latin typeface="Calibri" pitchFamily="34" charset="0"/>
                          <a:ea typeface="Calibri" pitchFamily="34" charset="-122"/>
                          <a:cs typeface="Calibri" pitchFamily="34" charset="-120"/>
                        </a:rPr>
                        <a:t>Judged on</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Did the data arrive, correct and on time</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marL="0" indent="0" algn="l">
                        <a:buNone/>
                      </a:pPr>
                      <a:r>
                        <a:rPr lang="en-US" sz="1350" dirty="0">
                          <a:solidFill>
                            <a:srgbClr val="1C1F24"/>
                          </a:solidFill>
                          <a:latin typeface="Calibri" pitchFamily="34" charset="0"/>
                          <a:ea typeface="Calibri" pitchFamily="34" charset="-122"/>
                          <a:cs typeface="Calibri" pitchFamily="34" charset="-120"/>
                        </a:rPr>
                        <a:t>Was the conclusion right and did it change anything</a:t>
                      </a:r>
                      <a:endParaRPr lang="en-US" sz="1350" dirty="0">
                        <a:latin typeface="Calibri" charset="0"/>
                        <a:ea typeface="Calibri" charset="0"/>
                        <a:cs typeface="Calibri" charset="0"/>
                      </a:endParaRPr>
                    </a:p>
                  </a:txBody>
                  <a:tcPr marL="0" marR="50800" marT="63500" marB="63500">
                    <a:lnL w="0" cap="flat" cmpd="sng" algn="ctr">
                      <a:noFill/>
                    </a:lnL>
                    <a:lnR w="0" cap="flat" cmpd="sng" algn="ctr">
                      <a:noFill/>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callout-card"/>
          <p:cNvSpPr/>
          <p:nvPr/>
        </p:nvSpPr>
        <p:spPr>
          <a:xfrm>
            <a:off x="566928" y="4672584"/>
            <a:ext cx="10789920" cy="1600200"/>
          </a:xfrm>
          <a:prstGeom prst="rect">
            <a:avLst/>
          </a:prstGeom>
          <a:solidFill>
            <a:srgbClr val="FFFFFF"/>
          </a:solidFill>
          <a:ln w="6350">
            <a:solidFill>
              <a:srgbClr val="E2DDD6"/>
            </a:solidFill>
            <a:prstDash val="solid"/>
          </a:ln>
          <a:effectLst>
            <a:outerShdw blurRad="127000" dist="25400" dir="5400000" algn="bl" rotWithShape="0">
              <a:srgbClr val="000000">
                <a:alpha val="6000"/>
              </a:srgbClr>
            </a:outerShdw>
          </a:effectLst>
        </p:spPr>
        <p:txBody>
          <a:bodyPr/>
          <a:lstStyle/>
          <a:p>
            <a:endParaRPr lang="en-US"/>
          </a:p>
        </p:txBody>
      </p:sp>
      <p:sp>
        <p:nvSpPr>
          <p:cNvPr id="7" name="callout-rule"/>
          <p:cNvSpPr/>
          <p:nvPr/>
        </p:nvSpPr>
        <p:spPr>
          <a:xfrm>
            <a:off x="566928" y="4672584"/>
            <a:ext cx="41148" cy="1600200"/>
          </a:xfrm>
          <a:prstGeom prst="rect">
            <a:avLst/>
          </a:prstGeom>
          <a:solidFill>
            <a:srgbClr val="6B1F37"/>
          </a:solidFill>
          <a:ln w="12700">
            <a:solidFill>
              <a:srgbClr val="333333"/>
            </a:solidFill>
            <a:prstDash val="solid"/>
          </a:ln>
        </p:spPr>
        <p:txBody>
          <a:bodyPr/>
          <a:lstStyle/>
          <a:p>
            <a:endParaRPr lang="en-US"/>
          </a:p>
        </p:txBody>
      </p:sp>
      <p:sp>
        <p:nvSpPr>
          <p:cNvPr id="8" name="Text 4"/>
          <p:cNvSpPr txBox="1"/>
          <p:nvPr/>
        </p:nvSpPr>
        <p:spPr>
          <a:xfrm>
            <a:off x="841248" y="4764024"/>
            <a:ext cx="10287000" cy="1417320"/>
          </a:xfrm>
          <a:prstGeom prst="rect">
            <a:avLst/>
          </a:prstGeom>
          <a:noFill/>
          <a:ln/>
        </p:spPr>
        <p:txBody>
          <a:bodyPr wrap="square" lIns="0" tIns="0" rIns="0" bIns="0" rtlCol="0" anchor="ctr"/>
          <a:lstStyle/>
          <a:p>
            <a:pPr marL="0" indent="0">
              <a:lnSpc>
                <a:spcPct val="106000"/>
              </a:lnSpc>
              <a:buNone/>
            </a:pPr>
            <a:r>
              <a:rPr lang="en-US" sz="1500" dirty="0">
                <a:solidFill>
                  <a:srgbClr val="1C1F24"/>
                </a:solidFill>
              </a:rPr>
              <a:t>Shared: SQL, Python, version control, and a great deal of “is this number actually right?”</a:t>
            </a:r>
            <a:endParaRPr lang="en-US" sz="1500" dirty="0"/>
          </a:p>
          <a:p>
            <a:pPr marL="0" indent="0">
              <a:lnSpc>
                <a:spcPct val="106000"/>
              </a:lnSpc>
              <a:buNone/>
            </a:pPr>
            <a:endParaRPr lang="en-US" sz="1500" dirty="0"/>
          </a:p>
          <a:p>
            <a:pPr marL="0" indent="0">
              <a:lnSpc>
                <a:spcPct val="106000"/>
              </a:lnSpc>
              <a:buNone/>
            </a:pPr>
            <a:r>
              <a:rPr lang="en-US" sz="1150" dirty="0">
                <a:solidFill>
                  <a:srgbClr val="8B929C"/>
                </a:solidFill>
              </a:rPr>
              <a:t>You do not have to choose now — a data scientist who can deploy is rare, and a data engineer who understands models is rarer.</a:t>
            </a:r>
            <a:endParaRPr lang="en-US" sz="1500" dirty="0"/>
          </a:p>
        </p:txBody>
      </p:sp>
      <p:sp>
        <p:nvSpPr>
          <p:cNvPr id="4"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THREE · LEARNING</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Where to actually learn this</a:t>
            </a:r>
            <a:endParaRPr lang="en-US" sz="3200" dirty="0"/>
          </a:p>
        </p:txBody>
      </p:sp>
      <p:sp>
        <p:nvSpPr>
          <p:cNvPr id="5" name="Text 2"/>
          <p:cNvSpPr txBox="1"/>
          <p:nvPr/>
        </p:nvSpPr>
        <p:spPr>
          <a:xfrm>
            <a:off x="566928" y="1481328"/>
            <a:ext cx="5394960" cy="4791456"/>
          </a:xfrm>
          <a:prstGeom prst="rect">
            <a:avLst/>
          </a:prstGeom>
          <a:noFill/>
          <a:ln/>
        </p:spPr>
        <p:txBody>
          <a:bodyPr wrap="square" lIns="0" tIns="0" rIns="0" bIns="0" rtlCol="0" anchor="ctr"/>
          <a:lstStyle/>
          <a:p>
            <a:pPr marL="342900" indent="-342900">
              <a:lnSpc>
                <a:spcPct val="108000"/>
              </a:lnSpc>
              <a:spcAft>
                <a:spcPts val="300"/>
              </a:spcAft>
              <a:buSzPct val="100000"/>
              <a:buChar char="●"/>
            </a:pPr>
            <a:r>
              <a:rPr lang="en-US" sz="1700" b="1" dirty="0">
                <a:solidFill>
                  <a:srgbClr val="1C1F24"/>
                </a:solidFill>
              </a:rPr>
              <a:t>Official documentation, not courses</a:t>
            </a:r>
            <a:endParaRPr lang="en-US" sz="1700" dirty="0"/>
          </a:p>
          <a:p>
            <a:pPr marL="0" lvl="1" indent="0">
              <a:lnSpc>
                <a:spcPct val="108000"/>
              </a:lnSpc>
              <a:spcAft>
                <a:spcPts val="1800"/>
              </a:spcAft>
              <a:buNone/>
            </a:pPr>
            <a:r>
              <a:rPr lang="en-US" sz="1400" dirty="0">
                <a:solidFill>
                  <a:srgbClr val="5F6772"/>
                </a:solidFill>
              </a:rPr>
              <a:t>For Docker, Kafka, Kubernetes and Postgres the docs are better and current. Courses go stale.</a:t>
            </a:r>
            <a:endParaRPr lang="en-US" sz="1700" dirty="0"/>
          </a:p>
          <a:p>
            <a:pPr marL="342900" indent="-342900">
              <a:lnSpc>
                <a:spcPct val="108000"/>
              </a:lnSpc>
              <a:spcAft>
                <a:spcPts val="300"/>
              </a:spcAft>
              <a:buSzPct val="100000"/>
              <a:buChar char="●"/>
            </a:pPr>
            <a:r>
              <a:rPr lang="en-US" sz="1700" b="1" dirty="0">
                <a:solidFill>
                  <a:srgbClr val="1C1F24"/>
                </a:solidFill>
              </a:rPr>
              <a:t>One book per area, read properly</a:t>
            </a:r>
            <a:endParaRPr lang="en-US" sz="1700" dirty="0"/>
          </a:p>
          <a:p>
            <a:pPr marL="0" lvl="1" indent="0">
              <a:lnSpc>
                <a:spcPct val="108000"/>
              </a:lnSpc>
              <a:buNone/>
            </a:pPr>
            <a:r>
              <a:rPr lang="en-US" sz="1400" dirty="0">
                <a:solidFill>
                  <a:srgbClr val="5F6772"/>
                </a:solidFill>
              </a:rPr>
              <a:t>For this field, Kleppmann’s Designing Data-Intensive Applications is the one.</a:t>
            </a:r>
            <a:endParaRPr lang="en-US" sz="1700" dirty="0"/>
          </a:p>
        </p:txBody>
      </p:sp>
      <p:sp>
        <p:nvSpPr>
          <p:cNvPr id="6" name="Text 3"/>
          <p:cNvSpPr txBox="1"/>
          <p:nvPr/>
        </p:nvSpPr>
        <p:spPr>
          <a:xfrm>
            <a:off x="6400800" y="1481328"/>
            <a:ext cx="5257800" cy="4791456"/>
          </a:xfrm>
          <a:prstGeom prst="rect">
            <a:avLst/>
          </a:prstGeom>
          <a:noFill/>
          <a:ln/>
        </p:spPr>
        <p:txBody>
          <a:bodyPr wrap="square" lIns="0" tIns="0" rIns="0" bIns="0" rtlCol="0" anchor="ctr"/>
          <a:lstStyle/>
          <a:p>
            <a:pPr marL="342900" indent="-342900">
              <a:lnSpc>
                <a:spcPct val="108000"/>
              </a:lnSpc>
              <a:spcAft>
                <a:spcPts val="300"/>
              </a:spcAft>
              <a:buSzPct val="100000"/>
              <a:buChar char="●"/>
            </a:pPr>
            <a:r>
              <a:rPr lang="en-US" sz="1700" b="1" dirty="0">
                <a:solidFill>
                  <a:srgbClr val="1C1F24"/>
                </a:solidFill>
              </a:rPr>
              <a:t>Build first, then read</a:t>
            </a:r>
            <a:endParaRPr lang="en-US" sz="1700" dirty="0"/>
          </a:p>
          <a:p>
            <a:pPr marL="0" lvl="1" indent="0">
              <a:lnSpc>
                <a:spcPct val="108000"/>
              </a:lnSpc>
              <a:spcAft>
                <a:spcPts val="1800"/>
              </a:spcAft>
              <a:buNone/>
            </a:pPr>
            <a:r>
              <a:rPr lang="en-US" sz="1400" dirty="0">
                <a:solidFill>
                  <a:srgbClr val="5F6772"/>
                </a:solidFill>
              </a:rPr>
              <a:t>Reading about partitioning before you have hit a partitioning problem does not stick.</a:t>
            </a:r>
            <a:endParaRPr lang="en-US" sz="1700" dirty="0"/>
          </a:p>
          <a:p>
            <a:pPr marL="342900" indent="-342900">
              <a:lnSpc>
                <a:spcPct val="108000"/>
              </a:lnSpc>
              <a:spcAft>
                <a:spcPts val="300"/>
              </a:spcAft>
              <a:buSzPct val="100000"/>
              <a:buChar char="●"/>
            </a:pPr>
            <a:r>
              <a:rPr lang="en-US" sz="1700" b="1" dirty="0">
                <a:solidFill>
                  <a:srgbClr val="1C1F24"/>
                </a:solidFill>
              </a:rPr>
              <a:t>Read other people’s code</a:t>
            </a:r>
            <a:endParaRPr lang="en-US" sz="1700" dirty="0"/>
          </a:p>
          <a:p>
            <a:pPr marL="0" lvl="1" indent="0">
              <a:lnSpc>
                <a:spcPct val="108000"/>
              </a:lnSpc>
              <a:buNone/>
            </a:pPr>
            <a:r>
              <a:rPr lang="en-US" sz="1400" dirty="0">
                <a:solidFill>
                  <a:srgbClr val="5F6772"/>
                </a:solidFill>
              </a:rPr>
              <a:t>Pick a small open-source project and follow one pull request end to end.</a:t>
            </a:r>
            <a:endParaRPr lang="en-US" sz="17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PART THREE · THIS WEEK</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Three things you can start now</a:t>
            </a:r>
            <a:endParaRPr lang="en-US" sz="3200" dirty="0"/>
          </a:p>
        </p:txBody>
      </p:sp>
      <p:sp>
        <p:nvSpPr>
          <p:cNvPr id="5" name="step-0"/>
          <p:cNvSpPr/>
          <p:nvPr/>
        </p:nvSpPr>
        <p:spPr>
          <a:xfrm>
            <a:off x="566928" y="1865376"/>
            <a:ext cx="658368" cy="658368"/>
          </a:xfrm>
          <a:prstGeom prst="ellipse">
            <a:avLst/>
          </a:prstGeom>
          <a:solidFill>
            <a:srgbClr val="6B1F37"/>
          </a:solidFill>
          <a:ln w="12700">
            <a:solidFill>
              <a:srgbClr val="333333"/>
            </a:solidFill>
            <a:prstDash val="solid"/>
          </a:ln>
        </p:spPr>
        <p:txBody>
          <a:bodyPr/>
          <a:lstStyle/>
          <a:p>
            <a:endParaRPr lang="en-US"/>
          </a:p>
        </p:txBody>
      </p:sp>
      <p:sp>
        <p:nvSpPr>
          <p:cNvPr id="6" name="Text 3"/>
          <p:cNvSpPr txBox="1"/>
          <p:nvPr/>
        </p:nvSpPr>
        <p:spPr>
          <a:xfrm>
            <a:off x="566928" y="1865376"/>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7" name="Text 4"/>
          <p:cNvSpPr txBox="1"/>
          <p:nvPr/>
        </p:nvSpPr>
        <p:spPr>
          <a:xfrm>
            <a:off x="1481328" y="1828800"/>
            <a:ext cx="9784080" cy="1051560"/>
          </a:xfrm>
          <a:prstGeom prst="rect">
            <a:avLst/>
          </a:prstGeom>
          <a:noFill/>
          <a:ln/>
        </p:spPr>
        <p:txBody>
          <a:bodyPr wrap="square" lIns="0" tIns="0" rIns="0" bIns="0" rtlCol="0" anchor="t"/>
          <a:lstStyle/>
          <a:p>
            <a:pPr marL="0" indent="0">
              <a:lnSpc>
                <a:spcPct val="108000"/>
              </a:lnSpc>
              <a:buNone/>
            </a:pPr>
            <a:r>
              <a:rPr lang="en-US" sz="1900" b="1" dirty="0">
                <a:solidFill>
                  <a:srgbClr val="1C1F24"/>
                </a:solidFill>
              </a:rPr>
              <a:t>Pick one public API and ingest it on a schedule</a:t>
            </a:r>
            <a:endParaRPr lang="en-US" sz="1900" dirty="0"/>
          </a:p>
          <a:p>
            <a:pPr marL="0" indent="0">
              <a:lnSpc>
                <a:spcPct val="108000"/>
              </a:lnSpc>
              <a:buNone/>
            </a:pPr>
            <a:r>
              <a:rPr lang="en-US" sz="1400" dirty="0">
                <a:solidFill>
                  <a:srgbClr val="5F6772"/>
                </a:solidFill>
              </a:rPr>
              <a:t>Into a real database, with a unique constraint so re-running is safe. One evening.</a:t>
            </a:r>
            <a:endParaRPr lang="en-US" sz="1900" dirty="0"/>
          </a:p>
        </p:txBody>
      </p:sp>
      <p:sp>
        <p:nvSpPr>
          <p:cNvPr id="8" name="step-1"/>
          <p:cNvSpPr/>
          <p:nvPr/>
        </p:nvSpPr>
        <p:spPr>
          <a:xfrm>
            <a:off x="566928" y="3438144"/>
            <a:ext cx="658368" cy="658368"/>
          </a:xfrm>
          <a:prstGeom prst="ellipse">
            <a:avLst/>
          </a:prstGeom>
          <a:solidFill>
            <a:srgbClr val="6B1F37"/>
          </a:solidFill>
          <a:ln w="12700">
            <a:solidFill>
              <a:srgbClr val="333333"/>
            </a:solidFill>
            <a:prstDash val="solid"/>
          </a:ln>
        </p:spPr>
        <p:txBody>
          <a:bodyPr/>
          <a:lstStyle/>
          <a:p>
            <a:endParaRPr lang="en-US"/>
          </a:p>
        </p:txBody>
      </p:sp>
      <p:sp>
        <p:nvSpPr>
          <p:cNvPr id="9" name="Text 6"/>
          <p:cNvSpPr txBox="1"/>
          <p:nvPr/>
        </p:nvSpPr>
        <p:spPr>
          <a:xfrm>
            <a:off x="566928" y="3438144"/>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0" name="Text 7"/>
          <p:cNvSpPr txBox="1"/>
          <p:nvPr/>
        </p:nvSpPr>
        <p:spPr>
          <a:xfrm>
            <a:off x="1481328" y="3401568"/>
            <a:ext cx="9784080" cy="1051560"/>
          </a:xfrm>
          <a:prstGeom prst="rect">
            <a:avLst/>
          </a:prstGeom>
          <a:noFill/>
          <a:ln/>
        </p:spPr>
        <p:txBody>
          <a:bodyPr wrap="square" lIns="0" tIns="0" rIns="0" bIns="0" rtlCol="0" anchor="t"/>
          <a:lstStyle/>
          <a:p>
            <a:pPr marL="0" indent="0">
              <a:lnSpc>
                <a:spcPct val="108000"/>
              </a:lnSpc>
              <a:buNone/>
            </a:pPr>
            <a:r>
              <a:rPr lang="en-US" sz="1900" b="1" dirty="0">
                <a:solidFill>
                  <a:srgbClr val="1C1F24"/>
                </a:solidFill>
              </a:rPr>
              <a:t>Put it in Git with a test and a CI workflow</a:t>
            </a:r>
            <a:endParaRPr lang="en-US" sz="1900" dirty="0"/>
          </a:p>
          <a:p>
            <a:pPr marL="0" indent="0">
              <a:lnSpc>
                <a:spcPct val="108000"/>
              </a:lnSpc>
              <a:buNone/>
            </a:pPr>
            <a:r>
              <a:rPr lang="en-US" sz="1400" dirty="0">
                <a:solidFill>
                  <a:srgbClr val="5F6772"/>
                </a:solidFill>
              </a:rPr>
              <a:t>Even one test. The habit matters more than the coverage.</a:t>
            </a:r>
            <a:endParaRPr lang="en-US" sz="1900" dirty="0"/>
          </a:p>
        </p:txBody>
      </p:sp>
      <p:sp>
        <p:nvSpPr>
          <p:cNvPr id="11" name="step-2"/>
          <p:cNvSpPr/>
          <p:nvPr/>
        </p:nvSpPr>
        <p:spPr>
          <a:xfrm>
            <a:off x="566928" y="5010912"/>
            <a:ext cx="658368" cy="658368"/>
          </a:xfrm>
          <a:prstGeom prst="ellipse">
            <a:avLst/>
          </a:prstGeom>
          <a:solidFill>
            <a:srgbClr val="6B1F37"/>
          </a:solidFill>
          <a:ln w="12700">
            <a:solidFill>
              <a:srgbClr val="333333"/>
            </a:solidFill>
            <a:prstDash val="solid"/>
          </a:ln>
        </p:spPr>
        <p:txBody>
          <a:bodyPr/>
          <a:lstStyle/>
          <a:p>
            <a:endParaRPr lang="en-US"/>
          </a:p>
        </p:txBody>
      </p:sp>
      <p:sp>
        <p:nvSpPr>
          <p:cNvPr id="12" name="Text 9"/>
          <p:cNvSpPr txBox="1"/>
          <p:nvPr/>
        </p:nvSpPr>
        <p:spPr>
          <a:xfrm>
            <a:off x="566928" y="5010912"/>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3" name="Text 10"/>
          <p:cNvSpPr txBox="1"/>
          <p:nvPr/>
        </p:nvSpPr>
        <p:spPr>
          <a:xfrm>
            <a:off x="1481328" y="4974336"/>
            <a:ext cx="9784080" cy="1051560"/>
          </a:xfrm>
          <a:prstGeom prst="rect">
            <a:avLst/>
          </a:prstGeom>
          <a:noFill/>
          <a:ln/>
        </p:spPr>
        <p:txBody>
          <a:bodyPr wrap="square" lIns="0" tIns="0" rIns="0" bIns="0" rtlCol="0" anchor="t"/>
          <a:lstStyle/>
          <a:p>
            <a:pPr marL="0" indent="0">
              <a:lnSpc>
                <a:spcPct val="108000"/>
              </a:lnSpc>
              <a:buNone/>
            </a:pPr>
            <a:r>
              <a:rPr lang="en-US" sz="1900" b="1" dirty="0">
                <a:solidFill>
                  <a:srgbClr val="1C1F24"/>
                </a:solidFill>
              </a:rPr>
              <a:t>Write the README as though a stranger will run it</a:t>
            </a:r>
            <a:endParaRPr lang="en-US" sz="1900" dirty="0"/>
          </a:p>
          <a:p>
            <a:pPr marL="0" indent="0">
              <a:lnSpc>
                <a:spcPct val="108000"/>
              </a:lnSpc>
              <a:buNone/>
            </a:pPr>
            <a:r>
              <a:rPr lang="en-US" sz="1400" dirty="0">
                <a:solidFill>
                  <a:srgbClr val="5F6772"/>
                </a:solidFill>
              </a:rPr>
              <a:t>Because in an interview, one will.</a:t>
            </a:r>
            <a:endParaRPr lang="en-US" sz="190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2286000"/>
            <a:ext cx="11057839" cy="384048"/>
          </a:xfrm>
          <a:prstGeom prst="rect">
            <a:avLst/>
          </a:prstGeom>
          <a:noFill/>
          <a:ln/>
        </p:spPr>
        <p:txBody>
          <a:bodyPr wrap="square" rtlCol="0"/>
          <a:lstStyle/>
          <a:p>
            <a:pPr marL="0" indent="0" algn="l">
              <a:buNone/>
            </a:pPr>
            <a:r>
              <a:rPr lang="en-US" sz="1300" b="1" kern="0" spc="240" dirty="0">
                <a:solidFill>
                  <a:srgbClr val="E0B9C6"/>
                </a:solidFill>
              </a:rPr>
              <a:t>THANK YOU</a:t>
            </a:r>
            <a:endParaRPr lang="en-US" sz="1300" dirty="0"/>
          </a:p>
        </p:txBody>
      </p:sp>
      <p:sp>
        <p:nvSpPr>
          <p:cNvPr id="3" name="Text 0"/>
          <p:cNvSpPr>
            <a:spLocks noGrp="1"/>
          </p:cNvSpPr>
          <p:nvPr>
            <p:ph type="title" idx="101" hasCustomPrompt="1"/>
          </p:nvPr>
        </p:nvSpPr>
        <p:spPr>
          <a:xfrm>
            <a:off x="566928" y="2743200"/>
            <a:ext cx="8595360" cy="1188720"/>
          </a:xfrm>
          <a:prstGeom prst="rect">
            <a:avLst/>
          </a:prstGeom>
          <a:noFill/>
          <a:ln/>
        </p:spPr>
        <p:txBody>
          <a:bodyPr wrap="square" rtlCol="0"/>
          <a:lstStyle/>
          <a:p>
            <a:pPr marL="0" indent="0" algn="l">
              <a:buNone/>
            </a:pPr>
            <a:r>
              <a:rPr lang="en-US" sz="4400" b="1" dirty="0">
                <a:solidFill>
                  <a:srgbClr val="FFFFFF"/>
                </a:solidFill>
              </a:rPr>
              <a:t>Questions</a:t>
            </a:r>
            <a:endParaRPr lang="en-US" sz="4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APPENDIX · SCREEN</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Validate a rate</a:t>
            </a:r>
            <a:endParaRPr lang="en-US" sz="3200" dirty="0"/>
          </a:p>
        </p:txBody>
      </p:sp>
      <p:sp>
        <p:nvSpPr>
          <p:cNvPr id="5" name="full-Validate a rate"/>
          <p:cNvSpPr/>
          <p:nvPr/>
        </p:nvSpPr>
        <p:spPr>
          <a:xfrm>
            <a:off x="566928" y="1481328"/>
            <a:ext cx="11057839" cy="4379976"/>
          </a:xfrm>
          <a:prstGeom prst="roundRect">
            <a:avLst>
              <a:gd name="adj" fmla="val 835"/>
            </a:avLst>
          </a:prstGeom>
          <a:solidFill>
            <a:srgbClr val="FFFFFF"/>
          </a:solidFill>
          <a:ln w="9525">
            <a:solidFill>
              <a:srgbClr val="E2DDD6"/>
            </a:solidFill>
            <a:prstDash val="dash"/>
          </a:ln>
        </p:spPr>
        <p:txBody>
          <a:bodyPr/>
          <a:lstStyle/>
          <a:p>
            <a:endParaRPr lang="en-US"/>
          </a:p>
        </p:txBody>
      </p:sp>
      <p:sp>
        <p:nvSpPr>
          <p:cNvPr id="6" name="Text 3"/>
          <p:cNvSpPr txBox="1"/>
          <p:nvPr/>
        </p:nvSpPr>
        <p:spPr>
          <a:xfrm>
            <a:off x="566928" y="3488436"/>
            <a:ext cx="11057839" cy="365760"/>
          </a:xfrm>
          <a:prstGeom prst="rect">
            <a:avLst/>
          </a:prstGeom>
          <a:noFill/>
          <a:ln/>
        </p:spPr>
        <p:txBody>
          <a:bodyPr wrap="square" lIns="0" tIns="0" rIns="0" bIns="0" rtlCol="0" anchor="ctr"/>
          <a:lstStyle/>
          <a:p>
            <a:pPr marL="0" indent="0" algn="ctr">
              <a:buNone/>
            </a:pPr>
            <a:r>
              <a:rPr lang="en-US" sz="1300" i="1" dirty="0">
                <a:solidFill>
                  <a:srgbClr val="8B929C"/>
                </a:solidFill>
              </a:rPr>
              <a:t>drop validate-a-rate screenshot here</a:t>
            </a:r>
            <a:endParaRPr lang="en-US" sz="1300" dirty="0"/>
          </a:p>
        </p:txBody>
      </p:sp>
      <p:sp>
        <p:nvSpPr>
          <p:cNvPr id="7" name="Text 4"/>
          <p:cNvSpPr txBox="1"/>
          <p:nvPr/>
        </p:nvSpPr>
        <p:spPr>
          <a:xfrm>
            <a:off x="566928" y="5925312"/>
            <a:ext cx="8229600" cy="274320"/>
          </a:xfrm>
          <a:prstGeom prst="rect">
            <a:avLst/>
          </a:prstGeom>
          <a:noFill/>
          <a:ln/>
        </p:spPr>
        <p:txBody>
          <a:bodyPr wrap="square" lIns="0" tIns="0" rIns="0" bIns="0" rtlCol="0" anchor="ctr"/>
          <a:lstStyle/>
          <a:p>
            <a:pPr marL="0" indent="0">
              <a:buNone/>
            </a:pPr>
            <a:r>
              <a:rPr lang="en-US" sz="1150" dirty="0">
                <a:solidFill>
                  <a:srgbClr val="5F6772"/>
                </a:solidFill>
              </a:rPr>
              <a:t>Submit a rate; three detectors vote; escalation needs two of three.</a:t>
            </a:r>
            <a:endParaRPr lang="en-US" sz="1150" dirty="0"/>
          </a:p>
        </p:txBody>
      </p:sp>
      <p:sp>
        <p:nvSpPr>
          <p:cNvPr id="8" name="Text 5">
            <a:hlinkClick r:id="rId3" action="ppaction://hlinksldjump" tooltip="Back to the screen grid"/>
          </p:cNvPr>
          <p:cNvSpPr txBox="1"/>
          <p:nvPr/>
        </p:nvSpPr>
        <p:spPr>
          <a:xfrm>
            <a:off x="8881567" y="5925312"/>
            <a:ext cx="2743200" cy="274320"/>
          </a:xfrm>
          <a:prstGeom prst="rect">
            <a:avLst/>
          </a:prstGeom>
          <a:noFill/>
          <a:ln/>
        </p:spPr>
        <p:txBody>
          <a:bodyPr wrap="square" lIns="0" tIns="0" rIns="0" bIns="0" rtlCol="0" anchor="ctr"/>
          <a:lstStyle/>
          <a:p>
            <a:pPr marL="0" indent="0" algn="r">
              <a:buNone/>
            </a:pPr>
            <a:r>
              <a:rPr lang="en-US" sz="1150" b="1" u="sng" dirty="0">
                <a:solidFill>
                  <a:srgbClr val="6B1F37"/>
                </a:solidFill>
                <a:hlinkClick r:id="rId3" action="ppaction://hlinksldjump" tooltip="Back to the screen grid">
                  <a:extLst>
                    <a:ext uri="{A12FA001-AC4F-418D-AE19-62706E023703}">
                      <ahyp:hlinkClr xmlns:ahyp="http://schemas.microsoft.com/office/drawing/2018/hyperlinkcolor" val="tx"/>
                    </a:ext>
                  </a:extLst>
                </a:hlinkClick>
              </a:rPr>
              <a:t>←  back to all screens</a:t>
            </a:r>
            <a:endParaRPr lang="en-US" sz="11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28</a:t>
            </a:fld>
            <a:endParaRPr lang="en-US"/>
          </a:p>
        </p:txBody>
      </p:sp>
      <p:pic>
        <p:nvPicPr>
          <p:cNvPr id="4" name="Picture 3">
            <a:extLst>
              <a:ext uri="{FF2B5EF4-FFF2-40B4-BE49-F238E27FC236}">
                <a16:creationId xmlns:a16="http://schemas.microsoft.com/office/drawing/2014/main" id="{627CA8B3-2230-B660-71E5-AECC2A9A0D8E}"/>
              </a:ext>
            </a:extLst>
          </p:cNvPr>
          <p:cNvPicPr>
            <a:picLocks noChangeAspect="1"/>
          </p:cNvPicPr>
          <p:nvPr/>
        </p:nvPicPr>
        <p:blipFill>
          <a:blip r:embed="rId4"/>
          <a:stretch>
            <a:fillRect/>
          </a:stretch>
        </p:blipFill>
        <p:spPr>
          <a:xfrm>
            <a:off x="1853032" y="1481328"/>
            <a:ext cx="8485632" cy="437997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APPENDIX · SCREEN</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Alerts</a:t>
            </a:r>
            <a:endParaRPr lang="en-US" sz="3200" dirty="0"/>
          </a:p>
        </p:txBody>
      </p:sp>
      <p:sp>
        <p:nvSpPr>
          <p:cNvPr id="5" name="full-Alerts"/>
          <p:cNvSpPr/>
          <p:nvPr/>
        </p:nvSpPr>
        <p:spPr>
          <a:xfrm>
            <a:off x="566928" y="1481328"/>
            <a:ext cx="11057839" cy="4379976"/>
          </a:xfrm>
          <a:prstGeom prst="roundRect">
            <a:avLst>
              <a:gd name="adj" fmla="val 835"/>
            </a:avLst>
          </a:prstGeom>
          <a:solidFill>
            <a:srgbClr val="FFFFFF"/>
          </a:solidFill>
          <a:ln w="9525">
            <a:solidFill>
              <a:srgbClr val="E2DDD6"/>
            </a:solidFill>
            <a:prstDash val="dash"/>
          </a:ln>
        </p:spPr>
        <p:txBody>
          <a:bodyPr/>
          <a:lstStyle/>
          <a:p>
            <a:endParaRPr lang="en-US"/>
          </a:p>
        </p:txBody>
      </p:sp>
      <p:sp>
        <p:nvSpPr>
          <p:cNvPr id="6" name="Text 3"/>
          <p:cNvSpPr txBox="1"/>
          <p:nvPr/>
        </p:nvSpPr>
        <p:spPr>
          <a:xfrm>
            <a:off x="566928" y="3488436"/>
            <a:ext cx="11057839" cy="365760"/>
          </a:xfrm>
          <a:prstGeom prst="rect">
            <a:avLst/>
          </a:prstGeom>
          <a:noFill/>
          <a:ln/>
        </p:spPr>
        <p:txBody>
          <a:bodyPr wrap="square" lIns="0" tIns="0" rIns="0" bIns="0" rtlCol="0" anchor="ctr"/>
          <a:lstStyle/>
          <a:p>
            <a:pPr marL="0" indent="0" algn="ctr">
              <a:buNone/>
            </a:pPr>
            <a:r>
              <a:rPr lang="en-US" sz="1300" i="1" dirty="0">
                <a:solidFill>
                  <a:srgbClr val="8B929C"/>
                </a:solidFill>
              </a:rPr>
              <a:t>drop alerts screenshot here</a:t>
            </a:r>
            <a:endParaRPr lang="en-US" sz="1300" dirty="0"/>
          </a:p>
        </p:txBody>
      </p:sp>
      <p:sp>
        <p:nvSpPr>
          <p:cNvPr id="7" name="Text 4"/>
          <p:cNvSpPr txBox="1"/>
          <p:nvPr/>
        </p:nvSpPr>
        <p:spPr>
          <a:xfrm>
            <a:off x="566928" y="5925312"/>
            <a:ext cx="8229600" cy="274320"/>
          </a:xfrm>
          <a:prstGeom prst="rect">
            <a:avLst/>
          </a:prstGeom>
          <a:noFill/>
          <a:ln/>
        </p:spPr>
        <p:txBody>
          <a:bodyPr wrap="square" lIns="0" tIns="0" rIns="0" bIns="0" rtlCol="0" anchor="ctr"/>
          <a:lstStyle/>
          <a:p>
            <a:pPr marL="0" indent="0">
              <a:buNone/>
            </a:pPr>
            <a:r>
              <a:rPr lang="en-US" sz="1150" dirty="0">
                <a:solidFill>
                  <a:srgbClr val="5F6772"/>
                </a:solidFill>
              </a:rPr>
              <a:t>The consensus verdict, and which detectors agreed.</a:t>
            </a:r>
            <a:endParaRPr lang="en-US" sz="1150" dirty="0"/>
          </a:p>
        </p:txBody>
      </p:sp>
      <p:sp>
        <p:nvSpPr>
          <p:cNvPr id="8" name="Text 5">
            <a:hlinkClick r:id="rId3" action="ppaction://hlinksldjump" tooltip="Back to the screen grid"/>
          </p:cNvPr>
          <p:cNvSpPr txBox="1"/>
          <p:nvPr/>
        </p:nvSpPr>
        <p:spPr>
          <a:xfrm>
            <a:off x="8881567" y="5925312"/>
            <a:ext cx="2743200" cy="274320"/>
          </a:xfrm>
          <a:prstGeom prst="rect">
            <a:avLst/>
          </a:prstGeom>
          <a:noFill/>
          <a:ln/>
        </p:spPr>
        <p:txBody>
          <a:bodyPr wrap="square" lIns="0" tIns="0" rIns="0" bIns="0" rtlCol="0" anchor="ctr"/>
          <a:lstStyle/>
          <a:p>
            <a:pPr marL="0" indent="0" algn="r">
              <a:buNone/>
            </a:pPr>
            <a:r>
              <a:rPr lang="en-US" sz="1150" b="1" u="sng" dirty="0">
                <a:solidFill>
                  <a:srgbClr val="6B1F37"/>
                </a:solidFill>
                <a:hlinkClick r:id="rId3" action="ppaction://hlinksldjump" tooltip="Back to the screen grid">
                  <a:extLst>
                    <a:ext uri="{A12FA001-AC4F-418D-AE19-62706E023703}">
                      <ahyp:hlinkClr xmlns:ahyp="http://schemas.microsoft.com/office/drawing/2018/hyperlinkcolor" val="tx"/>
                    </a:ext>
                  </a:extLst>
                </a:hlinkClick>
              </a:rPr>
              <a:t>←  back to all screens</a:t>
            </a:r>
            <a:endParaRPr lang="en-US" sz="11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29</a:t>
            </a:fld>
            <a:endParaRPr lang="en-US"/>
          </a:p>
        </p:txBody>
      </p:sp>
      <p:pic>
        <p:nvPicPr>
          <p:cNvPr id="4" name="Picture 3">
            <a:extLst>
              <a:ext uri="{FF2B5EF4-FFF2-40B4-BE49-F238E27FC236}">
                <a16:creationId xmlns:a16="http://schemas.microsoft.com/office/drawing/2014/main" id="{5CBB74A2-A2E4-E8AF-052B-7636AE0518FE}"/>
              </a:ext>
            </a:extLst>
          </p:cNvPr>
          <p:cNvPicPr>
            <a:picLocks noChangeAspect="1"/>
          </p:cNvPicPr>
          <p:nvPr/>
        </p:nvPicPr>
        <p:blipFill>
          <a:blip r:embed="rId4"/>
          <a:stretch>
            <a:fillRect/>
          </a:stretch>
        </p:blipFill>
        <p:spPr>
          <a:xfrm>
            <a:off x="1853032" y="1481328"/>
            <a:ext cx="8485632" cy="437997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APPENDIX · SCREEN</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ArgoCD</a:t>
            </a:r>
            <a:endParaRPr lang="en-US" sz="3200" dirty="0"/>
          </a:p>
        </p:txBody>
      </p:sp>
      <p:sp>
        <p:nvSpPr>
          <p:cNvPr id="5" name="full-ArgoCD"/>
          <p:cNvSpPr/>
          <p:nvPr/>
        </p:nvSpPr>
        <p:spPr>
          <a:xfrm>
            <a:off x="566928" y="1481328"/>
            <a:ext cx="11057839" cy="4379976"/>
          </a:xfrm>
          <a:prstGeom prst="roundRect">
            <a:avLst>
              <a:gd name="adj" fmla="val 835"/>
            </a:avLst>
          </a:prstGeom>
          <a:solidFill>
            <a:srgbClr val="FFFFFF"/>
          </a:solidFill>
          <a:ln w="9525">
            <a:solidFill>
              <a:srgbClr val="E2DDD6"/>
            </a:solidFill>
            <a:prstDash val="dash"/>
          </a:ln>
        </p:spPr>
        <p:txBody>
          <a:bodyPr/>
          <a:lstStyle/>
          <a:p>
            <a:endParaRPr lang="en-US"/>
          </a:p>
        </p:txBody>
      </p:sp>
      <p:sp>
        <p:nvSpPr>
          <p:cNvPr id="6" name="Text 3"/>
          <p:cNvSpPr txBox="1"/>
          <p:nvPr/>
        </p:nvSpPr>
        <p:spPr>
          <a:xfrm>
            <a:off x="566928" y="3488436"/>
            <a:ext cx="11057839" cy="365760"/>
          </a:xfrm>
          <a:prstGeom prst="rect">
            <a:avLst/>
          </a:prstGeom>
          <a:noFill/>
          <a:ln/>
        </p:spPr>
        <p:txBody>
          <a:bodyPr wrap="square" lIns="0" tIns="0" rIns="0" bIns="0" rtlCol="0" anchor="ctr"/>
          <a:lstStyle/>
          <a:p>
            <a:pPr marL="0" indent="0" algn="ctr">
              <a:buNone/>
            </a:pPr>
            <a:r>
              <a:rPr lang="en-US" sz="1300" i="1" dirty="0">
                <a:solidFill>
                  <a:srgbClr val="8B929C"/>
                </a:solidFill>
              </a:rPr>
              <a:t>drop argocd screenshot here</a:t>
            </a:r>
            <a:endParaRPr lang="en-US" sz="1300" dirty="0"/>
          </a:p>
        </p:txBody>
      </p:sp>
      <p:sp>
        <p:nvSpPr>
          <p:cNvPr id="7" name="Text 4"/>
          <p:cNvSpPr txBox="1"/>
          <p:nvPr/>
        </p:nvSpPr>
        <p:spPr>
          <a:xfrm>
            <a:off x="566928" y="5925312"/>
            <a:ext cx="8229600" cy="274320"/>
          </a:xfrm>
          <a:prstGeom prst="rect">
            <a:avLst/>
          </a:prstGeom>
          <a:noFill/>
          <a:ln/>
        </p:spPr>
        <p:txBody>
          <a:bodyPr wrap="square" lIns="0" tIns="0" rIns="0" bIns="0" rtlCol="0" anchor="ctr"/>
          <a:lstStyle/>
          <a:p>
            <a:pPr marL="0" indent="0">
              <a:buNone/>
            </a:pPr>
            <a:r>
              <a:rPr lang="en-US" sz="1150" dirty="0">
                <a:solidFill>
                  <a:srgbClr val="5F6772"/>
                </a:solidFill>
              </a:rPr>
              <a:t>The cluster reconciled against what is in Git.</a:t>
            </a:r>
            <a:endParaRPr lang="en-US" sz="1150" dirty="0"/>
          </a:p>
        </p:txBody>
      </p:sp>
      <p:sp>
        <p:nvSpPr>
          <p:cNvPr id="8" name="Text 5">
            <a:hlinkClick r:id="rId3" action="ppaction://hlinksldjump" tooltip="Back to the screen grid"/>
          </p:cNvPr>
          <p:cNvSpPr txBox="1"/>
          <p:nvPr/>
        </p:nvSpPr>
        <p:spPr>
          <a:xfrm>
            <a:off x="8881567" y="5925312"/>
            <a:ext cx="2743200" cy="274320"/>
          </a:xfrm>
          <a:prstGeom prst="rect">
            <a:avLst/>
          </a:prstGeom>
          <a:noFill/>
          <a:ln/>
        </p:spPr>
        <p:txBody>
          <a:bodyPr wrap="square" lIns="0" tIns="0" rIns="0" bIns="0" rtlCol="0" anchor="ctr"/>
          <a:lstStyle/>
          <a:p>
            <a:pPr marL="0" indent="0" algn="r">
              <a:buNone/>
            </a:pPr>
            <a:r>
              <a:rPr lang="en-US" sz="1150" b="1" u="sng" dirty="0">
                <a:solidFill>
                  <a:srgbClr val="6B1F37"/>
                </a:solidFill>
                <a:hlinkClick r:id="rId3" action="ppaction://hlinksldjump" tooltip="Back to the screen grid">
                  <a:extLst>
                    <a:ext uri="{A12FA001-AC4F-418D-AE19-62706E023703}">
                      <ahyp:hlinkClr xmlns:ahyp="http://schemas.microsoft.com/office/drawing/2018/hyperlinkcolor" val="tx"/>
                    </a:ext>
                  </a:extLst>
                </a:hlinkClick>
              </a:rPr>
              <a:t>←  back to all screens</a:t>
            </a:r>
            <a:endParaRPr lang="en-US" sz="11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30</a:t>
            </a:fld>
            <a:endParaRPr lang="en-US"/>
          </a:p>
        </p:txBody>
      </p:sp>
      <p:pic>
        <p:nvPicPr>
          <p:cNvPr id="4" name="Picture 3">
            <a:extLst>
              <a:ext uri="{FF2B5EF4-FFF2-40B4-BE49-F238E27FC236}">
                <a16:creationId xmlns:a16="http://schemas.microsoft.com/office/drawing/2014/main" id="{0E28B6B6-9F56-B1B5-87CB-8957CDA37B02}"/>
              </a:ext>
            </a:extLst>
          </p:cNvPr>
          <p:cNvPicPr>
            <a:picLocks noChangeAspect="1"/>
          </p:cNvPicPr>
          <p:nvPr/>
        </p:nvPicPr>
        <p:blipFill>
          <a:blip r:embed="rId4"/>
          <a:stretch>
            <a:fillRect/>
          </a:stretch>
        </p:blipFill>
        <p:spPr>
          <a:xfrm>
            <a:off x="1853032" y="1481328"/>
            <a:ext cx="8485632" cy="437997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APPENDIX · SCREEN</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Sign-in</a:t>
            </a:r>
            <a:endParaRPr lang="en-US" sz="3200" dirty="0"/>
          </a:p>
        </p:txBody>
      </p:sp>
      <p:sp>
        <p:nvSpPr>
          <p:cNvPr id="5" name="full-Alerts"/>
          <p:cNvSpPr/>
          <p:nvPr/>
        </p:nvSpPr>
        <p:spPr>
          <a:xfrm>
            <a:off x="566928" y="1481328"/>
            <a:ext cx="11057839" cy="4379976"/>
          </a:xfrm>
          <a:prstGeom prst="roundRect">
            <a:avLst>
              <a:gd name="adj" fmla="val 835"/>
            </a:avLst>
          </a:prstGeom>
          <a:solidFill>
            <a:srgbClr val="FFFFFF"/>
          </a:solidFill>
          <a:ln w="9525">
            <a:solidFill>
              <a:srgbClr val="E2DDD6"/>
            </a:solidFill>
            <a:prstDash val="dash"/>
          </a:ln>
        </p:spPr>
        <p:txBody>
          <a:bodyPr/>
          <a:lstStyle/>
          <a:p>
            <a:endParaRPr lang="en-US"/>
          </a:p>
        </p:txBody>
      </p:sp>
      <p:sp>
        <p:nvSpPr>
          <p:cNvPr id="6" name="Text 3"/>
          <p:cNvSpPr txBox="1"/>
          <p:nvPr/>
        </p:nvSpPr>
        <p:spPr>
          <a:xfrm>
            <a:off x="566928" y="3488436"/>
            <a:ext cx="11057839" cy="365760"/>
          </a:xfrm>
          <a:prstGeom prst="rect">
            <a:avLst/>
          </a:prstGeom>
          <a:noFill/>
          <a:ln/>
        </p:spPr>
        <p:txBody>
          <a:bodyPr wrap="square" lIns="0" tIns="0" rIns="0" bIns="0" rtlCol="0" anchor="ctr"/>
          <a:lstStyle/>
          <a:p>
            <a:pPr marL="0" indent="0" algn="ctr">
              <a:buNone/>
            </a:pPr>
            <a:r>
              <a:rPr lang="en-US" sz="1300" i="1" dirty="0">
                <a:solidFill>
                  <a:srgbClr val="8B929C"/>
                </a:solidFill>
              </a:rPr>
              <a:t>drop sign-in screenshot here</a:t>
            </a:r>
            <a:endParaRPr lang="en-US" sz="1300" dirty="0"/>
          </a:p>
        </p:txBody>
      </p:sp>
      <p:sp>
        <p:nvSpPr>
          <p:cNvPr id="7" name="Text 4"/>
          <p:cNvSpPr txBox="1"/>
          <p:nvPr/>
        </p:nvSpPr>
        <p:spPr>
          <a:xfrm>
            <a:off x="566928" y="5925312"/>
            <a:ext cx="8229600" cy="274320"/>
          </a:xfrm>
          <a:prstGeom prst="rect">
            <a:avLst/>
          </a:prstGeom>
          <a:noFill/>
          <a:ln/>
        </p:spPr>
        <p:txBody>
          <a:bodyPr wrap="square" lIns="0" tIns="0" rIns="0" bIns="0" rtlCol="0" anchor="ctr"/>
          <a:lstStyle/>
          <a:p>
            <a:pPr marL="0" indent="0">
              <a:buNone/>
            </a:pPr>
            <a:r>
              <a:rPr lang="en-US" sz="1150" dirty="0">
                <a:solidFill>
                  <a:srgbClr val="5F6772"/>
                </a:solidFill>
              </a:rPr>
              <a:t>Where a user enters the system.</a:t>
            </a:r>
            <a:endParaRPr lang="en-US" sz="1150" dirty="0"/>
          </a:p>
        </p:txBody>
      </p:sp>
      <p:sp>
        <p:nvSpPr>
          <p:cNvPr id="8" name="Text 5">
            <a:hlinkClick r:id="rId2" action="ppaction://hlinksldjump" tooltip="Back to the screen grid"/>
          </p:cNvPr>
          <p:cNvSpPr txBox="1"/>
          <p:nvPr/>
        </p:nvSpPr>
        <p:spPr>
          <a:xfrm>
            <a:off x="8881567" y="5925312"/>
            <a:ext cx="2743200" cy="274320"/>
          </a:xfrm>
          <a:prstGeom prst="rect">
            <a:avLst/>
          </a:prstGeom>
          <a:noFill/>
          <a:ln/>
        </p:spPr>
        <p:txBody>
          <a:bodyPr wrap="square" lIns="0" tIns="0" rIns="0" bIns="0" rtlCol="0" anchor="ctr"/>
          <a:lstStyle/>
          <a:p>
            <a:pPr marL="0" indent="0" algn="r">
              <a:buNone/>
            </a:pPr>
            <a:r>
              <a:rPr lang="en-US" sz="1150" b="1" u="sng" dirty="0">
                <a:solidFill>
                  <a:srgbClr val="6B1F37"/>
                </a:solidFill>
                <a:hlinkClick r:id="rId2" action="ppaction://hlinksldjump" tooltip="Back to the screen grid">
                  <a:extLst>
                    <a:ext uri="{A12FA001-AC4F-418D-AE19-62706E023703}">
                      <ahyp:hlinkClr xmlns:ahyp="http://schemas.microsoft.com/office/drawing/2018/hyperlinkcolor" val="tx"/>
                    </a:ext>
                  </a:extLst>
                </a:hlinkClick>
              </a:rPr>
              <a:t>←  back to all screens</a:t>
            </a:r>
            <a:endParaRPr lang="en-US" sz="11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31</a:t>
            </a:fld>
            <a:endParaRPr lang="en-US"/>
          </a:p>
        </p:txBody>
      </p:sp>
      <p:pic>
        <p:nvPicPr>
          <p:cNvPr id="4" name="Picture 3">
            <a:extLst>
              <a:ext uri="{FF2B5EF4-FFF2-40B4-BE49-F238E27FC236}">
                <a16:creationId xmlns:a16="http://schemas.microsoft.com/office/drawing/2014/main" id="{25E3971C-B11B-E691-DB53-8C62F8760655}"/>
              </a:ext>
            </a:extLst>
          </p:cNvPr>
          <p:cNvPicPr>
            <a:picLocks noChangeAspect="1"/>
          </p:cNvPicPr>
          <p:nvPr/>
        </p:nvPicPr>
        <p:blipFill>
          <a:blip r:embed="rId3"/>
          <a:stretch>
            <a:fillRect/>
          </a:stretch>
        </p:blipFill>
        <p:spPr>
          <a:xfrm>
            <a:off x="1853032" y="1389888"/>
            <a:ext cx="8485632" cy="447141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APPENDIX · SCREEN</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Dashboard</a:t>
            </a:r>
            <a:endParaRPr lang="en-US" sz="3200" dirty="0"/>
          </a:p>
        </p:txBody>
      </p:sp>
      <p:sp>
        <p:nvSpPr>
          <p:cNvPr id="5" name="full-Alerts"/>
          <p:cNvSpPr/>
          <p:nvPr/>
        </p:nvSpPr>
        <p:spPr>
          <a:xfrm>
            <a:off x="566928" y="1481328"/>
            <a:ext cx="11057839" cy="4379976"/>
          </a:xfrm>
          <a:prstGeom prst="roundRect">
            <a:avLst>
              <a:gd name="adj" fmla="val 835"/>
            </a:avLst>
          </a:prstGeom>
          <a:solidFill>
            <a:srgbClr val="FFFFFF"/>
          </a:solidFill>
          <a:ln w="9525">
            <a:solidFill>
              <a:srgbClr val="E2DDD6"/>
            </a:solidFill>
            <a:prstDash val="dash"/>
          </a:ln>
        </p:spPr>
        <p:txBody>
          <a:bodyPr/>
          <a:lstStyle/>
          <a:p>
            <a:endParaRPr lang="en-US"/>
          </a:p>
        </p:txBody>
      </p:sp>
      <p:sp>
        <p:nvSpPr>
          <p:cNvPr id="6" name="Text 3"/>
          <p:cNvSpPr txBox="1"/>
          <p:nvPr/>
        </p:nvSpPr>
        <p:spPr>
          <a:xfrm>
            <a:off x="566928" y="3488436"/>
            <a:ext cx="11057839" cy="365760"/>
          </a:xfrm>
          <a:prstGeom prst="rect">
            <a:avLst/>
          </a:prstGeom>
          <a:noFill/>
          <a:ln/>
        </p:spPr>
        <p:txBody>
          <a:bodyPr wrap="square" lIns="0" tIns="0" rIns="0" bIns="0" rtlCol="0" anchor="ctr"/>
          <a:lstStyle/>
          <a:p>
            <a:pPr marL="0" indent="0" algn="ctr">
              <a:buNone/>
            </a:pPr>
            <a:r>
              <a:rPr lang="en-US" sz="1300" i="1" dirty="0">
                <a:solidFill>
                  <a:srgbClr val="8B929C"/>
                </a:solidFill>
              </a:rPr>
              <a:t>drop dashboard screenshot here</a:t>
            </a:r>
            <a:endParaRPr lang="en-US" sz="1300" dirty="0"/>
          </a:p>
        </p:txBody>
      </p:sp>
      <p:sp>
        <p:nvSpPr>
          <p:cNvPr id="7" name="Text 4"/>
          <p:cNvSpPr txBox="1"/>
          <p:nvPr/>
        </p:nvSpPr>
        <p:spPr>
          <a:xfrm>
            <a:off x="566928" y="5925312"/>
            <a:ext cx="8229600" cy="274320"/>
          </a:xfrm>
          <a:prstGeom prst="rect">
            <a:avLst/>
          </a:prstGeom>
          <a:noFill/>
          <a:ln/>
        </p:spPr>
        <p:txBody>
          <a:bodyPr wrap="square" lIns="0" tIns="0" rIns="0" bIns="0" rtlCol="0" anchor="ctr"/>
          <a:lstStyle/>
          <a:p>
            <a:pPr marL="0" indent="0">
              <a:buNone/>
            </a:pPr>
            <a:r>
              <a:rPr lang="en-US" sz="1150" dirty="0">
                <a:solidFill>
                  <a:srgbClr val="5F6772"/>
                </a:solidFill>
              </a:rPr>
              <a:t>Instruments monitored, alerts raised, artefacts trained, validation runs logged.</a:t>
            </a:r>
            <a:endParaRPr lang="en-US" sz="1150" dirty="0"/>
          </a:p>
        </p:txBody>
      </p:sp>
      <p:sp>
        <p:nvSpPr>
          <p:cNvPr id="8" name="Text 5">
            <a:hlinkClick r:id="rId3" action="ppaction://hlinksldjump" tooltip="Back to the screen grid"/>
          </p:cNvPr>
          <p:cNvSpPr txBox="1"/>
          <p:nvPr/>
        </p:nvSpPr>
        <p:spPr>
          <a:xfrm>
            <a:off x="8881567" y="5925312"/>
            <a:ext cx="2743200" cy="274320"/>
          </a:xfrm>
          <a:prstGeom prst="rect">
            <a:avLst/>
          </a:prstGeom>
          <a:noFill/>
          <a:ln/>
        </p:spPr>
        <p:txBody>
          <a:bodyPr wrap="square" lIns="0" tIns="0" rIns="0" bIns="0" rtlCol="0" anchor="ctr"/>
          <a:lstStyle/>
          <a:p>
            <a:pPr marL="0" indent="0" algn="r">
              <a:buNone/>
            </a:pPr>
            <a:r>
              <a:rPr lang="en-US" sz="1150" b="1" u="sng" dirty="0">
                <a:solidFill>
                  <a:srgbClr val="6B1F37"/>
                </a:solidFill>
                <a:hlinkClick r:id="rId3" action="ppaction://hlinksldjump" tooltip="Back to the screen grid">
                  <a:extLst>
                    <a:ext uri="{A12FA001-AC4F-418D-AE19-62706E023703}">
                      <ahyp:hlinkClr xmlns:ahyp="http://schemas.microsoft.com/office/drawing/2018/hyperlinkcolor" val="tx"/>
                    </a:ext>
                  </a:extLst>
                </a:hlinkClick>
              </a:rPr>
              <a:t>←  back to all screens</a:t>
            </a:r>
            <a:endParaRPr lang="en-US" sz="11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32</a:t>
            </a:fld>
            <a:endParaRPr lang="en-US"/>
          </a:p>
        </p:txBody>
      </p:sp>
      <p:pic>
        <p:nvPicPr>
          <p:cNvPr id="4" name="Picture 3">
            <a:extLst>
              <a:ext uri="{FF2B5EF4-FFF2-40B4-BE49-F238E27FC236}">
                <a16:creationId xmlns:a16="http://schemas.microsoft.com/office/drawing/2014/main" id="{1D4FCEB9-F0DB-38F7-8ACB-CCE5F73D35FD}"/>
              </a:ext>
            </a:extLst>
          </p:cNvPr>
          <p:cNvPicPr>
            <a:picLocks noChangeAspect="1"/>
          </p:cNvPicPr>
          <p:nvPr/>
        </p:nvPicPr>
        <p:blipFill>
          <a:blip r:embed="rId4"/>
          <a:stretch>
            <a:fillRect/>
          </a:stretch>
        </p:blipFill>
        <p:spPr>
          <a:xfrm>
            <a:off x="1853032" y="1453896"/>
            <a:ext cx="8485632" cy="440740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APPENDIX · SCREEN</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Historical rates</a:t>
            </a:r>
            <a:endParaRPr lang="en-US" sz="3200" dirty="0"/>
          </a:p>
        </p:txBody>
      </p:sp>
      <p:sp>
        <p:nvSpPr>
          <p:cNvPr id="5" name="full-Alerts"/>
          <p:cNvSpPr/>
          <p:nvPr/>
        </p:nvSpPr>
        <p:spPr>
          <a:xfrm>
            <a:off x="566928" y="1481328"/>
            <a:ext cx="11057839" cy="4379976"/>
          </a:xfrm>
          <a:prstGeom prst="roundRect">
            <a:avLst>
              <a:gd name="adj" fmla="val 835"/>
            </a:avLst>
          </a:prstGeom>
          <a:solidFill>
            <a:srgbClr val="FFFFFF"/>
          </a:solidFill>
          <a:ln w="9525">
            <a:solidFill>
              <a:srgbClr val="E2DDD6"/>
            </a:solidFill>
            <a:prstDash val="dash"/>
          </a:ln>
        </p:spPr>
        <p:txBody>
          <a:bodyPr/>
          <a:lstStyle/>
          <a:p>
            <a:endParaRPr lang="en-US"/>
          </a:p>
        </p:txBody>
      </p:sp>
      <p:sp>
        <p:nvSpPr>
          <p:cNvPr id="6" name="Text 3"/>
          <p:cNvSpPr txBox="1"/>
          <p:nvPr/>
        </p:nvSpPr>
        <p:spPr>
          <a:xfrm>
            <a:off x="566928" y="3488436"/>
            <a:ext cx="11057839" cy="365760"/>
          </a:xfrm>
          <a:prstGeom prst="rect">
            <a:avLst/>
          </a:prstGeom>
          <a:noFill/>
          <a:ln/>
        </p:spPr>
        <p:txBody>
          <a:bodyPr wrap="square" lIns="0" tIns="0" rIns="0" bIns="0" rtlCol="0" anchor="ctr"/>
          <a:lstStyle/>
          <a:p>
            <a:pPr marL="0" indent="0" algn="ctr">
              <a:buNone/>
            </a:pPr>
            <a:r>
              <a:rPr lang="en-US" sz="1300" i="1" dirty="0">
                <a:solidFill>
                  <a:srgbClr val="8B929C"/>
                </a:solidFill>
              </a:rPr>
              <a:t>drop historical-rates screenshot here</a:t>
            </a:r>
            <a:endParaRPr lang="en-US" sz="1300" dirty="0"/>
          </a:p>
        </p:txBody>
      </p:sp>
      <p:sp>
        <p:nvSpPr>
          <p:cNvPr id="7" name="Text 4"/>
          <p:cNvSpPr txBox="1"/>
          <p:nvPr/>
        </p:nvSpPr>
        <p:spPr>
          <a:xfrm>
            <a:off x="566928" y="5925312"/>
            <a:ext cx="8229600" cy="274320"/>
          </a:xfrm>
          <a:prstGeom prst="rect">
            <a:avLst/>
          </a:prstGeom>
          <a:noFill/>
          <a:ln/>
        </p:spPr>
        <p:txBody>
          <a:bodyPr wrap="square" lIns="0" tIns="0" rIns="0" bIns="0" rtlCol="0" anchor="ctr"/>
          <a:lstStyle/>
          <a:p>
            <a:pPr marL="0" indent="0">
              <a:buNone/>
            </a:pPr>
            <a:r>
              <a:rPr lang="en-US" sz="1150" dirty="0">
                <a:solidFill>
                  <a:srgbClr val="5F6772"/>
                </a:solidFill>
              </a:rPr>
              <a:t>The stored series behind every check.</a:t>
            </a:r>
            <a:endParaRPr lang="en-US" sz="1150" dirty="0"/>
          </a:p>
        </p:txBody>
      </p:sp>
      <p:sp>
        <p:nvSpPr>
          <p:cNvPr id="8" name="Text 5">
            <a:hlinkClick r:id="rId3" action="ppaction://hlinksldjump" tooltip="Back to the screen grid"/>
          </p:cNvPr>
          <p:cNvSpPr txBox="1"/>
          <p:nvPr/>
        </p:nvSpPr>
        <p:spPr>
          <a:xfrm>
            <a:off x="8881567" y="5925312"/>
            <a:ext cx="2743200" cy="274320"/>
          </a:xfrm>
          <a:prstGeom prst="rect">
            <a:avLst/>
          </a:prstGeom>
          <a:noFill/>
          <a:ln/>
        </p:spPr>
        <p:txBody>
          <a:bodyPr wrap="square" lIns="0" tIns="0" rIns="0" bIns="0" rtlCol="0" anchor="ctr"/>
          <a:lstStyle/>
          <a:p>
            <a:pPr marL="0" indent="0" algn="r">
              <a:buNone/>
            </a:pPr>
            <a:r>
              <a:rPr lang="en-US" sz="1150" b="1" u="sng" dirty="0">
                <a:solidFill>
                  <a:srgbClr val="6B1F37"/>
                </a:solidFill>
                <a:hlinkClick r:id="rId3" action="ppaction://hlinksldjump" tooltip="Back to the screen grid">
                  <a:extLst>
                    <a:ext uri="{A12FA001-AC4F-418D-AE19-62706E023703}">
                      <ahyp:hlinkClr xmlns:ahyp="http://schemas.microsoft.com/office/drawing/2018/hyperlinkcolor" val="tx"/>
                    </a:ext>
                  </a:extLst>
                </a:hlinkClick>
              </a:rPr>
              <a:t>←  back to all screens</a:t>
            </a:r>
            <a:endParaRPr lang="en-US" sz="11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33</a:t>
            </a:fld>
            <a:endParaRPr lang="en-US"/>
          </a:p>
        </p:txBody>
      </p:sp>
      <p:pic>
        <p:nvPicPr>
          <p:cNvPr id="4" name="Picture 3">
            <a:extLst>
              <a:ext uri="{FF2B5EF4-FFF2-40B4-BE49-F238E27FC236}">
                <a16:creationId xmlns:a16="http://schemas.microsoft.com/office/drawing/2014/main" id="{7309E337-DF6D-BCDB-B499-4EB454CCCF0A}"/>
              </a:ext>
            </a:extLst>
          </p:cNvPr>
          <p:cNvPicPr>
            <a:picLocks noChangeAspect="1"/>
          </p:cNvPicPr>
          <p:nvPr/>
        </p:nvPicPr>
        <p:blipFill>
          <a:blip r:embed="rId4"/>
          <a:stretch>
            <a:fillRect/>
          </a:stretch>
        </p:blipFill>
        <p:spPr>
          <a:xfrm>
            <a:off x="1853032" y="1481328"/>
            <a:ext cx="8485632" cy="437997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APPENDIX · SCREEN</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Prediction</a:t>
            </a:r>
            <a:endParaRPr lang="en-US" sz="3200" dirty="0"/>
          </a:p>
        </p:txBody>
      </p:sp>
      <p:sp>
        <p:nvSpPr>
          <p:cNvPr id="5" name="full-Alerts"/>
          <p:cNvSpPr/>
          <p:nvPr/>
        </p:nvSpPr>
        <p:spPr>
          <a:xfrm>
            <a:off x="566928" y="1481328"/>
            <a:ext cx="11057839" cy="4379976"/>
          </a:xfrm>
          <a:prstGeom prst="roundRect">
            <a:avLst>
              <a:gd name="adj" fmla="val 835"/>
            </a:avLst>
          </a:prstGeom>
          <a:solidFill>
            <a:srgbClr val="FFFFFF"/>
          </a:solidFill>
          <a:ln w="9525">
            <a:solidFill>
              <a:srgbClr val="E2DDD6"/>
            </a:solidFill>
            <a:prstDash val="dash"/>
          </a:ln>
        </p:spPr>
        <p:txBody>
          <a:bodyPr/>
          <a:lstStyle/>
          <a:p>
            <a:endParaRPr lang="en-US"/>
          </a:p>
        </p:txBody>
      </p:sp>
      <p:sp>
        <p:nvSpPr>
          <p:cNvPr id="6" name="Text 3"/>
          <p:cNvSpPr txBox="1"/>
          <p:nvPr/>
        </p:nvSpPr>
        <p:spPr>
          <a:xfrm>
            <a:off x="566928" y="3488436"/>
            <a:ext cx="11057839" cy="365760"/>
          </a:xfrm>
          <a:prstGeom prst="rect">
            <a:avLst/>
          </a:prstGeom>
          <a:noFill/>
          <a:ln/>
        </p:spPr>
        <p:txBody>
          <a:bodyPr wrap="square" lIns="0" tIns="0" rIns="0" bIns="0" rtlCol="0" anchor="ctr"/>
          <a:lstStyle/>
          <a:p>
            <a:pPr marL="0" indent="0" algn="ctr">
              <a:buNone/>
            </a:pPr>
            <a:r>
              <a:rPr lang="en-US" sz="1300" i="1" dirty="0">
                <a:solidFill>
                  <a:srgbClr val="8B929C"/>
                </a:solidFill>
              </a:rPr>
              <a:t>drop prediction screenshot here</a:t>
            </a:r>
            <a:endParaRPr lang="en-US" sz="1300" dirty="0"/>
          </a:p>
        </p:txBody>
      </p:sp>
      <p:sp>
        <p:nvSpPr>
          <p:cNvPr id="7" name="Text 4"/>
          <p:cNvSpPr txBox="1"/>
          <p:nvPr/>
        </p:nvSpPr>
        <p:spPr>
          <a:xfrm>
            <a:off x="566928" y="5925312"/>
            <a:ext cx="8229600" cy="274320"/>
          </a:xfrm>
          <a:prstGeom prst="rect">
            <a:avLst/>
          </a:prstGeom>
          <a:noFill/>
          <a:ln/>
        </p:spPr>
        <p:txBody>
          <a:bodyPr wrap="square" lIns="0" tIns="0" rIns="0" bIns="0" rtlCol="0" anchor="ctr"/>
          <a:lstStyle/>
          <a:p>
            <a:pPr marL="0" indent="0">
              <a:buNone/>
            </a:pPr>
            <a:r>
              <a:rPr lang="en-US" sz="1150" dirty="0">
                <a:solidFill>
                  <a:srgbClr val="5F6772"/>
                </a:solidFill>
              </a:rPr>
              <a:t>The expected value an incoming rate is measured against.</a:t>
            </a:r>
            <a:endParaRPr lang="en-US" sz="1150" dirty="0"/>
          </a:p>
        </p:txBody>
      </p:sp>
      <p:sp>
        <p:nvSpPr>
          <p:cNvPr id="8" name="Text 5">
            <a:hlinkClick r:id="rId2" action="ppaction://hlinksldjump" tooltip="Back to the screen grid"/>
          </p:cNvPr>
          <p:cNvSpPr txBox="1"/>
          <p:nvPr/>
        </p:nvSpPr>
        <p:spPr>
          <a:xfrm>
            <a:off x="8881567" y="5925312"/>
            <a:ext cx="2743200" cy="274320"/>
          </a:xfrm>
          <a:prstGeom prst="rect">
            <a:avLst/>
          </a:prstGeom>
          <a:noFill/>
          <a:ln/>
        </p:spPr>
        <p:txBody>
          <a:bodyPr wrap="square" lIns="0" tIns="0" rIns="0" bIns="0" rtlCol="0" anchor="ctr"/>
          <a:lstStyle/>
          <a:p>
            <a:pPr marL="0" indent="0" algn="r">
              <a:buNone/>
            </a:pPr>
            <a:r>
              <a:rPr lang="en-US" sz="1150" b="1" u="sng" dirty="0">
                <a:solidFill>
                  <a:srgbClr val="6B1F37"/>
                </a:solidFill>
                <a:hlinkClick r:id="rId2" action="ppaction://hlinksldjump" tooltip="Back to the screen grid">
                  <a:extLst>
                    <a:ext uri="{A12FA001-AC4F-418D-AE19-62706E023703}">
                      <ahyp:hlinkClr xmlns:ahyp="http://schemas.microsoft.com/office/drawing/2018/hyperlinkcolor" val="tx"/>
                    </a:ext>
                  </a:extLst>
                </a:hlinkClick>
              </a:rPr>
              <a:t>←  back to all screens</a:t>
            </a:r>
            <a:endParaRPr lang="en-US" sz="11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34</a:t>
            </a:fld>
            <a:endParaRPr lang="en-US"/>
          </a:p>
        </p:txBody>
      </p:sp>
      <p:pic>
        <p:nvPicPr>
          <p:cNvPr id="4" name="Picture 3">
            <a:extLst>
              <a:ext uri="{FF2B5EF4-FFF2-40B4-BE49-F238E27FC236}">
                <a16:creationId xmlns:a16="http://schemas.microsoft.com/office/drawing/2014/main" id="{AFAB3542-6ADF-5E2F-59A9-EE881029490D}"/>
              </a:ext>
            </a:extLst>
          </p:cNvPr>
          <p:cNvPicPr>
            <a:picLocks noChangeAspect="1"/>
          </p:cNvPicPr>
          <p:nvPr/>
        </p:nvPicPr>
        <p:blipFill>
          <a:blip r:embed="rId3"/>
          <a:stretch>
            <a:fillRect/>
          </a:stretch>
        </p:blipFill>
        <p:spPr>
          <a:xfrm>
            <a:off x="1853032" y="1481328"/>
            <a:ext cx="8485632" cy="437997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402336"/>
            <a:ext cx="11057839" cy="310896"/>
          </a:xfrm>
          <a:prstGeom prst="rect">
            <a:avLst/>
          </a:prstGeom>
          <a:noFill/>
          <a:ln/>
        </p:spPr>
        <p:txBody>
          <a:bodyPr wrap="square" rtlCol="0"/>
          <a:lstStyle/>
          <a:p>
            <a:pPr marL="0" indent="0" algn="l">
              <a:buNone/>
            </a:pPr>
            <a:r>
              <a:rPr lang="en-US" sz="1200" b="1" kern="0" spc="220" dirty="0">
                <a:solidFill>
                  <a:srgbClr val="6B1F37"/>
                </a:solidFill>
              </a:rPr>
              <a:t>APPENDIX · SCREEN</a:t>
            </a:r>
            <a:endParaRPr lang="en-US" sz="1200" dirty="0"/>
          </a:p>
        </p:txBody>
      </p:sp>
      <p:sp>
        <p:nvSpPr>
          <p:cNvPr id="3" name="Text 0"/>
          <p:cNvSpPr>
            <a:spLocks noGrp="1"/>
          </p:cNvSpPr>
          <p:nvPr>
            <p:ph type="title" idx="101" hasCustomPrompt="1"/>
          </p:nvPr>
        </p:nvSpPr>
        <p:spPr>
          <a:xfrm>
            <a:off x="566928" y="731520"/>
            <a:ext cx="11057839" cy="658368"/>
          </a:xfrm>
          <a:prstGeom prst="rect">
            <a:avLst/>
          </a:prstGeom>
          <a:noFill/>
          <a:ln/>
        </p:spPr>
        <p:txBody>
          <a:bodyPr wrap="square" rtlCol="0"/>
          <a:lstStyle/>
          <a:p>
            <a:pPr marL="0" indent="0" algn="l">
              <a:buNone/>
            </a:pPr>
            <a:r>
              <a:rPr lang="en-US" sz="3200" b="1" dirty="0">
                <a:solidFill>
                  <a:srgbClr val="1C1F24"/>
                </a:solidFill>
              </a:rPr>
              <a:t>Model artefacts</a:t>
            </a:r>
            <a:endParaRPr lang="en-US" sz="3200" dirty="0"/>
          </a:p>
        </p:txBody>
      </p:sp>
      <p:sp>
        <p:nvSpPr>
          <p:cNvPr id="5" name="full-Alerts"/>
          <p:cNvSpPr/>
          <p:nvPr/>
        </p:nvSpPr>
        <p:spPr>
          <a:xfrm>
            <a:off x="566928" y="1481328"/>
            <a:ext cx="11057839" cy="4379976"/>
          </a:xfrm>
          <a:prstGeom prst="roundRect">
            <a:avLst>
              <a:gd name="adj" fmla="val 835"/>
            </a:avLst>
          </a:prstGeom>
          <a:solidFill>
            <a:srgbClr val="FFFFFF"/>
          </a:solidFill>
          <a:ln w="9525">
            <a:solidFill>
              <a:srgbClr val="E2DDD6"/>
            </a:solidFill>
            <a:prstDash val="dash"/>
          </a:ln>
        </p:spPr>
        <p:txBody>
          <a:bodyPr/>
          <a:lstStyle/>
          <a:p>
            <a:endParaRPr lang="en-US"/>
          </a:p>
        </p:txBody>
      </p:sp>
      <p:sp>
        <p:nvSpPr>
          <p:cNvPr id="6" name="Text 3"/>
          <p:cNvSpPr txBox="1"/>
          <p:nvPr/>
        </p:nvSpPr>
        <p:spPr>
          <a:xfrm>
            <a:off x="566928" y="3488436"/>
            <a:ext cx="11057839" cy="365760"/>
          </a:xfrm>
          <a:prstGeom prst="rect">
            <a:avLst/>
          </a:prstGeom>
          <a:noFill/>
          <a:ln/>
        </p:spPr>
        <p:txBody>
          <a:bodyPr wrap="square" lIns="0" tIns="0" rIns="0" bIns="0" rtlCol="0" anchor="ctr"/>
          <a:lstStyle/>
          <a:p>
            <a:pPr marL="0" indent="0" algn="ctr">
              <a:buNone/>
            </a:pPr>
            <a:r>
              <a:rPr lang="en-US" sz="1300" i="1" dirty="0">
                <a:solidFill>
                  <a:srgbClr val="8B929C"/>
                </a:solidFill>
              </a:rPr>
              <a:t>drop model-artefacts screenshot here</a:t>
            </a:r>
            <a:endParaRPr lang="en-US" sz="1300" dirty="0"/>
          </a:p>
        </p:txBody>
      </p:sp>
      <p:sp>
        <p:nvSpPr>
          <p:cNvPr id="7" name="Text 4"/>
          <p:cNvSpPr txBox="1"/>
          <p:nvPr/>
        </p:nvSpPr>
        <p:spPr>
          <a:xfrm>
            <a:off x="566928" y="5925312"/>
            <a:ext cx="8229600" cy="274320"/>
          </a:xfrm>
          <a:prstGeom prst="rect">
            <a:avLst/>
          </a:prstGeom>
          <a:noFill/>
          <a:ln/>
        </p:spPr>
        <p:txBody>
          <a:bodyPr wrap="square" lIns="0" tIns="0" rIns="0" bIns="0" rtlCol="0" anchor="ctr"/>
          <a:lstStyle/>
          <a:p>
            <a:pPr marL="0" indent="0">
              <a:buNone/>
            </a:pPr>
            <a:r>
              <a:rPr lang="en-US" sz="1150" dirty="0">
                <a:solidFill>
                  <a:srgbClr val="5F6772"/>
                </a:solidFill>
              </a:rPr>
              <a:t>What was trained, when, and on how many observations.</a:t>
            </a:r>
            <a:endParaRPr lang="en-US" sz="1150" dirty="0"/>
          </a:p>
        </p:txBody>
      </p:sp>
      <p:sp>
        <p:nvSpPr>
          <p:cNvPr id="8" name="Text 5">
            <a:hlinkClick r:id="rId2" action="ppaction://hlinksldjump" tooltip="Back to the screen grid"/>
          </p:cNvPr>
          <p:cNvSpPr txBox="1"/>
          <p:nvPr/>
        </p:nvSpPr>
        <p:spPr>
          <a:xfrm>
            <a:off x="8881567" y="5925312"/>
            <a:ext cx="2743200" cy="274320"/>
          </a:xfrm>
          <a:prstGeom prst="rect">
            <a:avLst/>
          </a:prstGeom>
          <a:noFill/>
          <a:ln/>
        </p:spPr>
        <p:txBody>
          <a:bodyPr wrap="square" lIns="0" tIns="0" rIns="0" bIns="0" rtlCol="0" anchor="ctr"/>
          <a:lstStyle/>
          <a:p>
            <a:pPr marL="0" indent="0" algn="r">
              <a:buNone/>
            </a:pPr>
            <a:r>
              <a:rPr lang="en-US" sz="1150" b="1" u="sng" dirty="0">
                <a:solidFill>
                  <a:srgbClr val="6B1F37"/>
                </a:solidFill>
                <a:hlinkClick r:id="rId2" action="ppaction://hlinksldjump" tooltip="Back to the screen grid">
                  <a:extLst>
                    <a:ext uri="{A12FA001-AC4F-418D-AE19-62706E023703}">
                      <ahyp:hlinkClr xmlns:ahyp="http://schemas.microsoft.com/office/drawing/2018/hyperlinkcolor" val="tx"/>
                    </a:ext>
                  </a:extLst>
                </a:hlinkClick>
              </a:rPr>
              <a:t>←  back to all screens</a:t>
            </a:r>
            <a:endParaRPr lang="en-US" sz="1150" dirty="0"/>
          </a:p>
        </p:txBody>
      </p:sp>
      <p:sp>
        <p:nvSpPr>
          <p:cNvPr id="25" name="Slide Number Placeholder 0"/>
          <p:cNvSpPr>
            <a:spLocks noGrp="1"/>
          </p:cNvSpPr>
          <p:nvPr>
            <p:ph type="sldNum" sz="quarter" idx="4294967295"/>
          </p:nvPr>
        </p:nvSpPr>
        <p:spPr>
          <a:xfrm>
            <a:off x="11076127" y="6437376"/>
            <a:ext cx="548640" cy="256032"/>
          </a:xfrm>
          <a:prstGeom prst="rect">
            <a:avLst/>
          </a:prstGeom>
          <a:extLst>
            <a:ext uri="{C572A759-6A51-4108-AA02-DFA0A04FC94B}">
              <ma14:wrappingTextBoxFlag xmlns:ma14="http://schemas.microsoft.com/office/mac/drawingml/2011/main" xmlns="" val="0"/>
            </a:ext>
          </a:extLst>
        </p:spPr>
        <p:txBody>
          <a:bodyPr/>
          <a:lstStyle>
            <a:lvl1pPr>
              <a:defRPr sz="950">
                <a:solidFill>
                  <a:srgbClr val="8B929C"/>
                </a:solidFill>
              </a:defRPr>
            </a:lvl1pPr>
          </a:lstStyle>
          <a:p>
            <a:pPr algn="r"/>
            <a:fld id="{F7021451-1387-4CA6-816F-3879F97B5CBC}" type="slidenum">
              <a:rPr lang="en-US" b="0"/>
              <a:t>35</a:t>
            </a:fld>
            <a:endParaRPr lang="en-US"/>
          </a:p>
        </p:txBody>
      </p:sp>
      <p:pic>
        <p:nvPicPr>
          <p:cNvPr id="4" name="Picture 3">
            <a:extLst>
              <a:ext uri="{FF2B5EF4-FFF2-40B4-BE49-F238E27FC236}">
                <a16:creationId xmlns:a16="http://schemas.microsoft.com/office/drawing/2014/main" id="{D2F1955C-FC2B-60D9-724A-344056E4DD75}"/>
              </a:ext>
            </a:extLst>
          </p:cNvPr>
          <p:cNvPicPr>
            <a:picLocks noChangeAspect="1"/>
          </p:cNvPicPr>
          <p:nvPr/>
        </p:nvPicPr>
        <p:blipFill>
          <a:blip r:embed="rId3"/>
          <a:stretch>
            <a:fillRect/>
          </a:stretch>
        </p:blipFill>
        <p:spPr>
          <a:xfrm>
            <a:off x="1853032" y="1389888"/>
            <a:ext cx="8485632" cy="4471416"/>
          </a:xfrm>
          <a:prstGeom prst="rect">
            <a:avLst/>
          </a:prstGeom>
        </p:spPr>
      </p:pic>
    </p:spTree>
  </p:cSld>
  <p:clrMapOvr>
    <a:masterClrMapping/>
  </p:clrMapOvr>
</p:sld>
</file>

<file path=ppt/theme/theme1.xml><?xml version="1.0" encoding="utf-8"?>
<a:theme xmlns:a="http://schemas.openxmlformats.org/drawingml/2006/main" name="MarketGuard">
  <a:themeElements>
    <a:clrScheme name="MarketGuard">
      <a:dk1>
        <a:srgbClr val="1C1F24"/>
      </a:dk1>
      <a:lt1>
        <a:srgbClr val="FAF8F5"/>
      </a:lt1>
      <a:dk2>
        <a:srgbClr val="5F6772"/>
      </a:dk2>
      <a:lt2>
        <a:srgbClr val="FFFFFF"/>
      </a:lt2>
      <a:accent1>
        <a:srgbClr val="6B1F37"/>
      </a:accent1>
      <a:accent2>
        <a:srgbClr val="4F6B78"/>
      </a:accent2>
      <a:accent3>
        <a:srgbClr val="9C7B43"/>
      </a:accent3>
      <a:accent4>
        <a:srgbClr val="8A5A10"/>
      </a:accent4>
      <a:accent5>
        <a:srgbClr val="2F6B4F"/>
      </a:accent5>
      <a:accent6>
        <a:srgbClr val="8B929C"/>
      </a:accent6>
      <a:hlink>
        <a:srgbClr val="6B1F37"/>
      </a:hlink>
      <a:folHlink>
        <a:srgbClr val="8B929C"/>
      </a:folHlink>
    </a:clrScheme>
    <a:fontScheme name="MarketGuar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1373</TotalTime>
  <Words>4462</Words>
  <Application>Microsoft Macintosh PowerPoint</Application>
  <PresentationFormat>Widescreen</PresentationFormat>
  <Paragraphs>496</Paragraphs>
  <Slides>35</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Arial</vt:lpstr>
      <vt:lpstr>Calibri</vt:lpstr>
      <vt:lpstr>MarketGuard</vt:lpstr>
      <vt:lpstr>PowerPoint Presentation</vt:lpstr>
      <vt:lpstr>Twelve years of this breaking in production</vt:lpstr>
      <vt:lpstr>Three parts</vt:lpstr>
      <vt:lpstr>Market data is small, and it has to be right</vt:lpstr>
      <vt:lpstr>How this is actually done today</vt:lpstr>
      <vt:lpstr>What I built</vt:lpstr>
      <vt:lpstr>Ingestion, end to end</vt:lpstr>
      <vt:lpstr>Why an event bus, and not just an API call?</vt:lpstr>
      <vt:lpstr>One service computes features. Once.</vt:lpstr>
      <vt:lpstr>What do you do when there are no labels?</vt:lpstr>
      <vt:lpstr>Training and serving are different workloads</vt:lpstr>
      <vt:lpstr>The whole loop, on one page</vt:lpstr>
      <vt:lpstr>Getting it running, repeatably</vt:lpstr>
      <vt:lpstr>What the pipelines actually cost</vt:lpstr>
      <vt:lpstr>The simplest model won</vt:lpstr>
      <vt:lpstr>Three detectors, three different answers</vt:lpstr>
      <vt:lpstr>Two answers, at the moment of the quote</vt:lpstr>
      <vt:lpstr>What it produces</vt:lpstr>
      <vt:lpstr>Getting your first job</vt:lpstr>
      <vt:lpstr>The short list that actually matters</vt:lpstr>
      <vt:lpstr>One thing, end to end, actually running</vt:lpstr>
      <vt:lpstr>Make the unglamorous parts visible</vt:lpstr>
      <vt:lpstr>How to talk about what you built</vt:lpstr>
      <vt:lpstr>Data engineering or data science?</vt:lpstr>
      <vt:lpstr>Where to actually learn this</vt:lpstr>
      <vt:lpstr>Three things you can start now</vt:lpstr>
      <vt:lpstr>Questions</vt:lpstr>
      <vt:lpstr>Validate a rate</vt:lpstr>
      <vt:lpstr>Alerts</vt:lpstr>
      <vt:lpstr>ArgoCD</vt:lpstr>
      <vt:lpstr>Sign-in</vt:lpstr>
      <vt:lpstr>Dashboard</vt:lpstr>
      <vt:lpstr>Historical rates</vt:lpstr>
      <vt:lpstr>Prediction</vt:lpstr>
      <vt:lpstr>Model artefacts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MarketGuard - Guest Lecture</dc:title>
  <dc:subject>Building a production data pipeline for financial market data</dc:subject>
  <dc:creator>Sive Jozi</dc:creator>
  <cp:lastModifiedBy>Jozi, S, Mr [29847176@sun.ac.za]</cp:lastModifiedBy>
  <cp:revision>36</cp:revision>
  <dcterms:created xsi:type="dcterms:W3CDTF">2026-10-22T15:34:57Z</dcterms:created>
  <dcterms:modified xsi:type="dcterms:W3CDTF">2026-10-23T15:59:16Z</dcterms:modified>
</cp:coreProperties>
</file>